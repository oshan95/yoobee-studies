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67" r:id="rId4"/>
    <p:sldId id="258" r:id="rId5"/>
    <p:sldId id="259" r:id="rId6"/>
    <p:sldId id="260" r:id="rId7"/>
    <p:sldId id="266" r:id="rId8"/>
    <p:sldId id="261" r:id="rId9"/>
    <p:sldId id="263" r:id="rId10"/>
    <p:sldId id="262" r:id="rId11"/>
    <p:sldId id="264"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200" b="0" i="0" u="none" strike="noStrike">
                <a:solidFill>
                  <a:srgbClr val="065A82"/>
                </a:solidFill>
                <a:latin typeface="Arial"/>
              </a:defRPr>
            </a:pPr>
            <a:r>
              <a:rPr lang="en-MY" sz="1200" b="0" i="0" u="none" strike="noStrike">
                <a:solidFill>
                  <a:srgbClr val="065A82"/>
                </a:solidFill>
                <a:latin typeface="Arial"/>
              </a:rPr>
              <a:t>Missing Values by Column</a:t>
            </a:r>
          </a:p>
        </c:rich>
      </c:tx>
      <c:overlay val="0"/>
    </c:title>
    <c:autoTitleDeleted val="0"/>
    <c:plotArea>
      <c:layout/>
      <c:barChart>
        <c:barDir val="bar"/>
        <c:grouping val="clustered"/>
        <c:varyColors val="0"/>
        <c:ser>
          <c:idx val="0"/>
          <c:order val="0"/>
          <c:tx>
            <c:strRef>
              <c:f>Sheet1!$B$1</c:f>
              <c:strCache>
                <c:ptCount val="1"/>
                <c:pt idx="0">
                  <c:v>Missing Values</c:v>
                </c:pt>
              </c:strCache>
            </c:strRef>
          </c:tx>
          <c:spPr>
            <a:solidFill>
              <a:srgbClr val="1C7293"/>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CO</c:v>
                </c:pt>
                <c:pt idx="1">
                  <c:v>O3</c:v>
                </c:pt>
                <c:pt idx="2">
                  <c:v>NO2</c:v>
                </c:pt>
                <c:pt idx="3">
                  <c:v>SO2</c:v>
                </c:pt>
                <c:pt idx="4">
                  <c:v>PM2.5</c:v>
                </c:pt>
                <c:pt idx="5">
                  <c:v>PM10</c:v>
                </c:pt>
                <c:pt idx="6">
                  <c:v>WSPM</c:v>
                </c:pt>
                <c:pt idx="7">
                  <c:v>TEMP</c:v>
                </c:pt>
              </c:strCache>
            </c:strRef>
          </c:cat>
          <c:val>
            <c:numRef>
              <c:f>Sheet1!$B$2:$B$9</c:f>
              <c:numCache>
                <c:formatCode>General</c:formatCode>
                <c:ptCount val="8"/>
                <c:pt idx="0">
                  <c:v>20701</c:v>
                </c:pt>
                <c:pt idx="1">
                  <c:v>13277</c:v>
                </c:pt>
                <c:pt idx="2">
                  <c:v>12116</c:v>
                </c:pt>
                <c:pt idx="3">
                  <c:v>9021</c:v>
                </c:pt>
                <c:pt idx="4">
                  <c:v>8739</c:v>
                </c:pt>
                <c:pt idx="5">
                  <c:v>6449</c:v>
                </c:pt>
                <c:pt idx="6">
                  <c:v>318</c:v>
                </c:pt>
                <c:pt idx="7">
                  <c:v>398</c:v>
                </c:pt>
              </c:numCache>
            </c:numRef>
          </c:val>
          <c:extLst>
            <c:ext xmlns:c16="http://schemas.microsoft.com/office/drawing/2014/chart" uri="{C3380CC4-5D6E-409C-BE32-E72D297353CC}">
              <c16:uniqueId val="{00000000-F3F0-4207-8C6B-D93E8C727E0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0F7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65A82"/>
                </a:solidFill>
                <a:latin typeface="Arial"/>
              </a:defRPr>
            </a:pPr>
            <a:r>
              <a:rPr lang="en-US" sz="1100" b="0" i="0" u="none" strike="noStrike">
                <a:solidFill>
                  <a:srgbClr val="065A82"/>
                </a:solidFill>
                <a:latin typeface="Arial"/>
              </a:rPr>
              <a:t>Average PM2.5 by Station (sorted ascending)</a:t>
            </a:r>
          </a:p>
        </c:rich>
      </c:tx>
      <c:overlay val="0"/>
    </c:title>
    <c:autoTitleDeleted val="0"/>
    <c:plotArea>
      <c:layout/>
      <c:barChart>
        <c:barDir val="bar"/>
        <c:grouping val="clustered"/>
        <c:varyColors val="0"/>
        <c:ser>
          <c:idx val="0"/>
          <c:order val="0"/>
          <c:tx>
            <c:strRef>
              <c:f>Sheet1!$B$1</c:f>
              <c:strCache>
                <c:ptCount val="1"/>
                <c:pt idx="0">
                  <c:v>Avg PM2.5 (µg/m³)</c:v>
                </c:pt>
              </c:strCache>
            </c:strRef>
          </c:tx>
          <c:spPr>
            <a:solidFill>
              <a:srgbClr val="1C7293"/>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Dingling</c:v>
                </c:pt>
                <c:pt idx="1">
                  <c:v>Huairou</c:v>
                </c:pt>
                <c:pt idx="2">
                  <c:v>Changping</c:v>
                </c:pt>
                <c:pt idx="3">
                  <c:v>Shunyi</c:v>
                </c:pt>
                <c:pt idx="4">
                  <c:v>Tiantan</c:v>
                </c:pt>
                <c:pt idx="5">
                  <c:v>Aotizhong.</c:v>
                </c:pt>
                <c:pt idx="6">
                  <c:v>Guanyuan</c:v>
                </c:pt>
                <c:pt idx="7">
                  <c:v>Wanliu</c:v>
                </c:pt>
                <c:pt idx="8">
                  <c:v>Gucheng</c:v>
                </c:pt>
                <c:pt idx="9">
                  <c:v>Nongzh.</c:v>
                </c:pt>
                <c:pt idx="10">
                  <c:v>Wanshouxig.</c:v>
                </c:pt>
                <c:pt idx="11">
                  <c:v>Dongsi</c:v>
                </c:pt>
              </c:strCache>
            </c:strRef>
          </c:cat>
          <c:val>
            <c:numRef>
              <c:f>Sheet1!$B$2:$B$13</c:f>
              <c:numCache>
                <c:formatCode>General</c:formatCode>
                <c:ptCount val="12"/>
                <c:pt idx="0">
                  <c:v>65.989999999999995</c:v>
                </c:pt>
                <c:pt idx="1">
                  <c:v>69.63</c:v>
                </c:pt>
                <c:pt idx="2">
                  <c:v>71.099999999999994</c:v>
                </c:pt>
                <c:pt idx="3">
                  <c:v>79.489999999999995</c:v>
                </c:pt>
                <c:pt idx="4">
                  <c:v>82.16</c:v>
                </c:pt>
                <c:pt idx="5">
                  <c:v>82.77</c:v>
                </c:pt>
                <c:pt idx="6">
                  <c:v>82.93</c:v>
                </c:pt>
                <c:pt idx="7">
                  <c:v>83.37</c:v>
                </c:pt>
                <c:pt idx="8">
                  <c:v>83.85</c:v>
                </c:pt>
                <c:pt idx="9">
                  <c:v>84.84</c:v>
                </c:pt>
                <c:pt idx="10">
                  <c:v>85.02</c:v>
                </c:pt>
                <c:pt idx="11">
                  <c:v>86.19</c:v>
                </c:pt>
              </c:numCache>
            </c:numRef>
          </c:val>
          <c:extLst>
            <c:ext xmlns:c16="http://schemas.microsoft.com/office/drawing/2014/chart" uri="{C3380CC4-5D6E-409C-BE32-E72D297353CC}">
              <c16:uniqueId val="{00000000-162E-4EEE-A229-2EB74297A51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0F7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65A82"/>
                </a:solidFill>
                <a:latin typeface="Arial"/>
              </a:defRPr>
            </a:pPr>
            <a:r>
              <a:rPr lang="en-MY" sz="1100" b="0" i="0" u="none" strike="noStrike">
                <a:solidFill>
                  <a:srgbClr val="065A82"/>
                </a:solidFill>
                <a:latin typeface="Arial"/>
              </a:rPr>
              <a:t>Pearson Correlation with PM2.5</a:t>
            </a:r>
          </a:p>
        </c:rich>
      </c:tx>
      <c:overlay val="0"/>
    </c:title>
    <c:autoTitleDeleted val="0"/>
    <c:plotArea>
      <c:layout/>
      <c:barChart>
        <c:barDir val="bar"/>
        <c:grouping val="clustered"/>
        <c:varyColors val="0"/>
        <c:ser>
          <c:idx val="0"/>
          <c:order val="0"/>
          <c:tx>
            <c:strRef>
              <c:f>Sheet1!$B$1</c:f>
              <c:strCache>
                <c:ptCount val="1"/>
                <c:pt idx="0">
                  <c:v>Correlation with PM2.5</c:v>
                </c:pt>
              </c:strCache>
            </c:strRef>
          </c:tx>
          <c:spPr>
            <a:solidFill>
              <a:srgbClr val="1C7293"/>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PM10</c:v>
                </c:pt>
                <c:pt idx="1">
                  <c:v>CO</c:v>
                </c:pt>
                <c:pt idx="2">
                  <c:v>NO2</c:v>
                </c:pt>
                <c:pt idx="3">
                  <c:v>SO2</c:v>
                </c:pt>
                <c:pt idx="4">
                  <c:v>DEWP</c:v>
                </c:pt>
                <c:pt idx="5">
                  <c:v>PRES</c:v>
                </c:pt>
                <c:pt idx="6">
                  <c:v>RAIN</c:v>
                </c:pt>
                <c:pt idx="7">
                  <c:v>TEMP</c:v>
                </c:pt>
                <c:pt idx="8">
                  <c:v>O3</c:v>
                </c:pt>
                <c:pt idx="9">
                  <c:v>WSPM</c:v>
                </c:pt>
              </c:strCache>
            </c:strRef>
          </c:cat>
          <c:val>
            <c:numRef>
              <c:f>Sheet1!$B$2:$B$11</c:f>
              <c:numCache>
                <c:formatCode>General</c:formatCode>
                <c:ptCount val="10"/>
                <c:pt idx="0">
                  <c:v>0.88400000000000001</c:v>
                </c:pt>
                <c:pt idx="1">
                  <c:v>0.79</c:v>
                </c:pt>
                <c:pt idx="2">
                  <c:v>0.66700000000000004</c:v>
                </c:pt>
                <c:pt idx="3">
                  <c:v>0.48199999999999998</c:v>
                </c:pt>
                <c:pt idx="4">
                  <c:v>0.115</c:v>
                </c:pt>
                <c:pt idx="5">
                  <c:v>1.9E-2</c:v>
                </c:pt>
                <c:pt idx="6">
                  <c:v>-1.4E-2</c:v>
                </c:pt>
                <c:pt idx="7">
                  <c:v>-0.13100000000000001</c:v>
                </c:pt>
                <c:pt idx="8">
                  <c:v>-0.15</c:v>
                </c:pt>
                <c:pt idx="9">
                  <c:v>-0.27200000000000002</c:v>
                </c:pt>
              </c:numCache>
            </c:numRef>
          </c:val>
          <c:extLst>
            <c:ext xmlns:c16="http://schemas.microsoft.com/office/drawing/2014/chart" uri="{C3380CC4-5D6E-409C-BE32-E72D297353CC}">
              <c16:uniqueId val="{00000000-2391-4C88-8D39-4D1DEB2DED9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0F7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0971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5DF51-D2A9-55EC-8F2B-ECC57966D5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5685C-291C-3EC7-7B28-14334B376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953E31-4EC4-A4A8-00E9-FC6F63A20F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E7D0CB-11B0-6155-4598-CEB98979FA0B}"/>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907300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B2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C7293"/>
          </a:solidFill>
          <a:ln w="12700">
            <a:solidFill>
              <a:srgbClr val="1C7293"/>
            </a:solidFill>
            <a:prstDash val="solid"/>
          </a:ln>
        </p:spPr>
      </p:sp>
      <p:sp>
        <p:nvSpPr>
          <p:cNvPr id="3" name="Shape 1"/>
          <p:cNvSpPr/>
          <p:nvPr/>
        </p:nvSpPr>
        <p:spPr>
          <a:xfrm>
            <a:off x="5943600" y="0"/>
            <a:ext cx="3200400" cy="5143500"/>
          </a:xfrm>
          <a:prstGeom prst="rect">
            <a:avLst/>
          </a:prstGeom>
          <a:solidFill>
            <a:srgbClr val="065A82">
              <a:alpha val="30000"/>
            </a:srgbClr>
          </a:solidFill>
          <a:ln w="12700">
            <a:solidFill>
              <a:srgbClr val="065A82">
                <a:alpha val="30000"/>
              </a:srgbClr>
            </a:solidFill>
            <a:prstDash val="solid"/>
          </a:ln>
        </p:spPr>
      </p:sp>
      <p:sp>
        <p:nvSpPr>
          <p:cNvPr id="4" name="Text 2"/>
          <p:cNvSpPr/>
          <p:nvPr/>
        </p:nvSpPr>
        <p:spPr>
          <a:xfrm>
            <a:off x="457200" y="914400"/>
            <a:ext cx="82296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Beijing Air Quality</a:t>
            </a:r>
            <a:endParaRPr lang="en-US" sz="4400" dirty="0"/>
          </a:p>
        </p:txBody>
      </p:sp>
      <p:sp>
        <p:nvSpPr>
          <p:cNvPr id="5" name="Text 3"/>
          <p:cNvSpPr/>
          <p:nvPr/>
        </p:nvSpPr>
        <p:spPr>
          <a:xfrm>
            <a:off x="457200" y="1783080"/>
            <a:ext cx="8229600" cy="502920"/>
          </a:xfrm>
          <a:prstGeom prst="rect">
            <a:avLst/>
          </a:prstGeom>
          <a:noFill/>
          <a:ln/>
        </p:spPr>
        <p:txBody>
          <a:bodyPr wrap="square" lIns="0" tIns="0" rIns="0" bIns="0" rtlCol="0" anchor="ctr"/>
          <a:lstStyle/>
          <a:p>
            <a:pPr marL="0" indent="0">
              <a:buNone/>
            </a:pPr>
            <a:r>
              <a:rPr lang="en-US" sz="2200" dirty="0">
                <a:solidFill>
                  <a:srgbClr val="D6EAF8"/>
                </a:solidFill>
                <a:latin typeface="Calibri" pitchFamily="34" charset="0"/>
                <a:ea typeface="Calibri" pitchFamily="34" charset="-122"/>
                <a:cs typeface="Calibri" pitchFamily="34" charset="-120"/>
              </a:rPr>
              <a:t>Data Analytics Study (2013 – 2017)</a:t>
            </a:r>
            <a:endParaRPr lang="en-US" sz="2200" dirty="0"/>
          </a:p>
        </p:txBody>
      </p:sp>
      <p:sp>
        <p:nvSpPr>
          <p:cNvPr id="6" name="Shape 4"/>
          <p:cNvSpPr/>
          <p:nvPr/>
        </p:nvSpPr>
        <p:spPr>
          <a:xfrm>
            <a:off x="457200" y="2377440"/>
            <a:ext cx="5029200" cy="36576"/>
          </a:xfrm>
          <a:prstGeom prst="rect">
            <a:avLst/>
          </a:prstGeom>
          <a:solidFill>
            <a:srgbClr val="1C7293"/>
          </a:solidFill>
          <a:ln w="12700">
            <a:solidFill>
              <a:srgbClr val="1C7293"/>
            </a:solidFill>
            <a:prstDash val="solid"/>
          </a:ln>
        </p:spPr>
      </p:sp>
      <p:sp>
        <p:nvSpPr>
          <p:cNvPr id="7" name="Text 5"/>
          <p:cNvSpPr/>
          <p:nvPr/>
        </p:nvSpPr>
        <p:spPr>
          <a:xfrm>
            <a:off x="457200" y="2542032"/>
            <a:ext cx="8229600" cy="36576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PRSA Multi-Station Dataset  •  12 Stations  •  420,768 Records</a:t>
            </a:r>
            <a:endParaRPr lang="en-US" sz="1300" dirty="0"/>
          </a:p>
        </p:txBody>
      </p:sp>
      <p:sp>
        <p:nvSpPr>
          <p:cNvPr id="8" name="Shape 6"/>
          <p:cNvSpPr/>
          <p:nvPr/>
        </p:nvSpPr>
        <p:spPr>
          <a:xfrm>
            <a:off x="457200" y="3108960"/>
            <a:ext cx="2606040" cy="475488"/>
          </a:xfrm>
          <a:prstGeom prst="roundRect">
            <a:avLst>
              <a:gd name="adj" fmla="val 15385"/>
            </a:avLst>
          </a:prstGeom>
          <a:solidFill>
            <a:srgbClr val="065A82"/>
          </a:solidFill>
          <a:ln w="12700">
            <a:solidFill>
              <a:srgbClr val="1C7293"/>
            </a:solidFill>
            <a:prstDash val="solid"/>
          </a:ln>
        </p:spPr>
      </p:sp>
      <p:sp>
        <p:nvSpPr>
          <p:cNvPr id="9" name="Text 7"/>
          <p:cNvSpPr/>
          <p:nvPr/>
        </p:nvSpPr>
        <p:spPr>
          <a:xfrm>
            <a:off x="457200" y="3108960"/>
            <a:ext cx="260604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Task 1: Load &amp; Inspect</a:t>
            </a:r>
            <a:endParaRPr lang="en-US" sz="1100" dirty="0"/>
          </a:p>
        </p:txBody>
      </p:sp>
      <p:sp>
        <p:nvSpPr>
          <p:cNvPr id="10" name="Shape 8"/>
          <p:cNvSpPr/>
          <p:nvPr/>
        </p:nvSpPr>
        <p:spPr>
          <a:xfrm>
            <a:off x="3291840" y="3108960"/>
            <a:ext cx="2606040" cy="475488"/>
          </a:xfrm>
          <a:prstGeom prst="roundRect">
            <a:avLst>
              <a:gd name="adj" fmla="val 15385"/>
            </a:avLst>
          </a:prstGeom>
          <a:solidFill>
            <a:srgbClr val="065A82"/>
          </a:solidFill>
          <a:ln w="12700">
            <a:solidFill>
              <a:srgbClr val="1C7293"/>
            </a:solidFill>
            <a:prstDash val="solid"/>
          </a:ln>
        </p:spPr>
      </p:sp>
      <p:sp>
        <p:nvSpPr>
          <p:cNvPr id="11" name="Text 9"/>
          <p:cNvSpPr/>
          <p:nvPr/>
        </p:nvSpPr>
        <p:spPr>
          <a:xfrm>
            <a:off x="3291840" y="3108960"/>
            <a:ext cx="260604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Task 2: Data Cleaning</a:t>
            </a:r>
            <a:endParaRPr lang="en-US" sz="1100" dirty="0"/>
          </a:p>
        </p:txBody>
      </p:sp>
      <p:sp>
        <p:nvSpPr>
          <p:cNvPr id="12" name="Shape 10"/>
          <p:cNvSpPr/>
          <p:nvPr/>
        </p:nvSpPr>
        <p:spPr>
          <a:xfrm>
            <a:off x="6126480" y="3108960"/>
            <a:ext cx="2606040" cy="475488"/>
          </a:xfrm>
          <a:prstGeom prst="roundRect">
            <a:avLst>
              <a:gd name="adj" fmla="val 15385"/>
            </a:avLst>
          </a:prstGeom>
          <a:solidFill>
            <a:srgbClr val="065A82"/>
          </a:solidFill>
          <a:ln w="12700">
            <a:solidFill>
              <a:srgbClr val="1C7293"/>
            </a:solidFill>
            <a:prstDash val="solid"/>
          </a:ln>
        </p:spPr>
      </p:sp>
      <p:sp>
        <p:nvSpPr>
          <p:cNvPr id="13" name="Text 11"/>
          <p:cNvSpPr/>
          <p:nvPr/>
        </p:nvSpPr>
        <p:spPr>
          <a:xfrm>
            <a:off x="6126480" y="3108960"/>
            <a:ext cx="260604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Task 3: Statistics</a:t>
            </a:r>
            <a:endParaRPr lang="en-US" sz="1100" dirty="0"/>
          </a:p>
        </p:txBody>
      </p:sp>
      <p:sp>
        <p:nvSpPr>
          <p:cNvPr id="14" name="Shape 12"/>
          <p:cNvSpPr/>
          <p:nvPr/>
        </p:nvSpPr>
        <p:spPr>
          <a:xfrm>
            <a:off x="457200" y="3767328"/>
            <a:ext cx="2606040" cy="475488"/>
          </a:xfrm>
          <a:prstGeom prst="roundRect">
            <a:avLst>
              <a:gd name="adj" fmla="val 15385"/>
            </a:avLst>
          </a:prstGeom>
          <a:solidFill>
            <a:srgbClr val="065A82"/>
          </a:solidFill>
          <a:ln w="12700">
            <a:solidFill>
              <a:srgbClr val="1C7293"/>
            </a:solidFill>
            <a:prstDash val="solid"/>
          </a:ln>
        </p:spPr>
      </p:sp>
      <p:sp>
        <p:nvSpPr>
          <p:cNvPr id="15" name="Text 13"/>
          <p:cNvSpPr/>
          <p:nvPr/>
        </p:nvSpPr>
        <p:spPr>
          <a:xfrm>
            <a:off x="457200" y="3767328"/>
            <a:ext cx="260604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Task 4: Filtering</a:t>
            </a:r>
            <a:endParaRPr lang="en-US" sz="1100" dirty="0"/>
          </a:p>
        </p:txBody>
      </p:sp>
      <p:sp>
        <p:nvSpPr>
          <p:cNvPr id="16" name="Shape 14"/>
          <p:cNvSpPr/>
          <p:nvPr/>
        </p:nvSpPr>
        <p:spPr>
          <a:xfrm>
            <a:off x="3291840" y="3767328"/>
            <a:ext cx="2606040" cy="475488"/>
          </a:xfrm>
          <a:prstGeom prst="roundRect">
            <a:avLst>
              <a:gd name="adj" fmla="val 15385"/>
            </a:avLst>
          </a:prstGeom>
          <a:solidFill>
            <a:srgbClr val="065A82"/>
          </a:solidFill>
          <a:ln w="12700">
            <a:solidFill>
              <a:srgbClr val="1C7293"/>
            </a:solidFill>
            <a:prstDash val="solid"/>
          </a:ln>
        </p:spPr>
      </p:sp>
      <p:sp>
        <p:nvSpPr>
          <p:cNvPr id="17" name="Text 15"/>
          <p:cNvSpPr/>
          <p:nvPr/>
        </p:nvSpPr>
        <p:spPr>
          <a:xfrm>
            <a:off x="3291840" y="3767328"/>
            <a:ext cx="260604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Task 5: Visualisation</a:t>
            </a:r>
            <a:endParaRPr lang="en-US" sz="1100" dirty="0"/>
          </a:p>
        </p:txBody>
      </p:sp>
      <p:sp>
        <p:nvSpPr>
          <p:cNvPr id="18" name="Shape 16"/>
          <p:cNvSpPr/>
          <p:nvPr/>
        </p:nvSpPr>
        <p:spPr>
          <a:xfrm>
            <a:off x="6126480" y="3767328"/>
            <a:ext cx="2606040" cy="475488"/>
          </a:xfrm>
          <a:prstGeom prst="roundRect">
            <a:avLst>
              <a:gd name="adj" fmla="val 15385"/>
            </a:avLst>
          </a:prstGeom>
          <a:solidFill>
            <a:srgbClr val="065A82"/>
          </a:solidFill>
          <a:ln w="12700">
            <a:solidFill>
              <a:srgbClr val="1C7293"/>
            </a:solidFill>
            <a:prstDash val="solid"/>
          </a:ln>
        </p:spPr>
      </p:sp>
      <p:sp>
        <p:nvSpPr>
          <p:cNvPr id="19" name="Text 17"/>
          <p:cNvSpPr/>
          <p:nvPr/>
        </p:nvSpPr>
        <p:spPr>
          <a:xfrm>
            <a:off x="6126480" y="3767328"/>
            <a:ext cx="260604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Task 6: Correlation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65A82"/>
          </a:solidFill>
          <a:ln w="12700">
            <a:solidFill>
              <a:srgbClr val="065A82"/>
            </a:solidFill>
            <a:prstDash val="solid"/>
          </a:ln>
        </p:spPr>
      </p:sp>
      <p:sp>
        <p:nvSpPr>
          <p:cNvPr id="3" name="Shape 1"/>
          <p:cNvSpPr/>
          <p:nvPr/>
        </p:nvSpPr>
        <p:spPr>
          <a:xfrm>
            <a:off x="164592" y="0"/>
            <a:ext cx="8979408" cy="914400"/>
          </a:xfrm>
          <a:prstGeom prst="rect">
            <a:avLst/>
          </a:prstGeom>
          <a:solidFill>
            <a:srgbClr val="D6EAF8"/>
          </a:solidFill>
          <a:ln w="12700">
            <a:solidFill>
              <a:srgbClr val="D6EAF8"/>
            </a:solidFill>
            <a:prstDash val="solid"/>
          </a:ln>
        </p:spPr>
      </p:sp>
      <p:sp>
        <p:nvSpPr>
          <p:cNvPr id="4" name="Text 2"/>
          <p:cNvSpPr/>
          <p:nvPr/>
        </p:nvSpPr>
        <p:spPr>
          <a:xfrm>
            <a:off x="365760" y="0"/>
            <a:ext cx="8595360" cy="914400"/>
          </a:xfrm>
          <a:prstGeom prst="rect">
            <a:avLst/>
          </a:prstGeom>
          <a:noFill/>
          <a:ln/>
        </p:spPr>
        <p:txBody>
          <a:bodyPr wrap="square" lIns="0" tIns="0" rIns="0" bIns="0" rtlCol="0" anchor="ctr"/>
          <a:lstStyle/>
          <a:p>
            <a:pPr marL="0" indent="0">
              <a:buNone/>
            </a:pPr>
            <a:r>
              <a:rPr lang="en-US" sz="2600" b="1" dirty="0">
                <a:solidFill>
                  <a:srgbClr val="065A82"/>
                </a:solidFill>
                <a:latin typeface="Calibri" pitchFamily="34" charset="0"/>
                <a:ea typeface="Calibri" pitchFamily="34" charset="-122"/>
                <a:cs typeface="Calibri" pitchFamily="34" charset="-120"/>
              </a:rPr>
              <a:t>Task 1  ·  Load &amp; Inspect the Dataset</a:t>
            </a:r>
            <a:endParaRPr lang="en-US" sz="2600" dirty="0"/>
          </a:p>
        </p:txBody>
      </p:sp>
      <p:sp>
        <p:nvSpPr>
          <p:cNvPr id="5" name="Shape 3"/>
          <p:cNvSpPr/>
          <p:nvPr/>
        </p:nvSpPr>
        <p:spPr>
          <a:xfrm>
            <a:off x="320040" y="1097280"/>
            <a:ext cx="1920240" cy="1417320"/>
          </a:xfrm>
          <a:prstGeom prst="rect">
            <a:avLst/>
          </a:prstGeom>
          <a:solidFill>
            <a:srgbClr val="F0F7FF"/>
          </a:solidFill>
          <a:ln w="12700">
            <a:solidFill>
              <a:srgbClr val="D6EAF8"/>
            </a:solidFill>
            <a:prstDash val="solid"/>
          </a:ln>
          <a:effectLst>
            <a:outerShdw blurRad="101600" dist="38100" dir="8100000" algn="bl" rotWithShape="0">
              <a:srgbClr val="000000">
                <a:alpha val="12000"/>
              </a:srgbClr>
            </a:outerShdw>
          </a:effectLst>
        </p:spPr>
      </p:sp>
      <p:sp>
        <p:nvSpPr>
          <p:cNvPr id="6" name="Text 4"/>
          <p:cNvSpPr/>
          <p:nvPr/>
        </p:nvSpPr>
        <p:spPr>
          <a:xfrm>
            <a:off x="320040" y="1170432"/>
            <a:ext cx="1920240" cy="685800"/>
          </a:xfrm>
          <a:prstGeom prst="rect">
            <a:avLst/>
          </a:prstGeom>
          <a:noFill/>
          <a:ln/>
        </p:spPr>
        <p:txBody>
          <a:bodyPr wrap="square" lIns="0" tIns="0" rIns="0" bIns="0" rtlCol="0" anchor="ctr"/>
          <a:lstStyle/>
          <a:p>
            <a:pPr marL="0" indent="0" algn="ctr">
              <a:buNone/>
            </a:pPr>
            <a:r>
              <a:rPr lang="en-US" sz="3000" b="1" dirty="0">
                <a:solidFill>
                  <a:srgbClr val="065A82"/>
                </a:solidFill>
                <a:latin typeface="Calibri" pitchFamily="34" charset="0"/>
                <a:ea typeface="Calibri" pitchFamily="34" charset="-122"/>
                <a:cs typeface="Calibri" pitchFamily="34" charset="-120"/>
              </a:rPr>
              <a:t>12</a:t>
            </a:r>
            <a:endParaRPr lang="en-US" sz="3000" dirty="0"/>
          </a:p>
        </p:txBody>
      </p:sp>
      <p:sp>
        <p:nvSpPr>
          <p:cNvPr id="7" name="Text 5"/>
          <p:cNvSpPr/>
          <p:nvPr/>
        </p:nvSpPr>
        <p:spPr>
          <a:xfrm>
            <a:off x="320040" y="1828800"/>
            <a:ext cx="1920240" cy="32004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CSV Files Loaded</a:t>
            </a:r>
            <a:endParaRPr lang="en-US" sz="1100" dirty="0"/>
          </a:p>
        </p:txBody>
      </p:sp>
      <p:sp>
        <p:nvSpPr>
          <p:cNvPr id="8" name="Text 6"/>
          <p:cNvSpPr/>
          <p:nvPr/>
        </p:nvSpPr>
        <p:spPr>
          <a:xfrm>
            <a:off x="320040" y="2148840"/>
            <a:ext cx="1920240" cy="27432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one per station</a:t>
            </a:r>
            <a:endParaRPr lang="en-US" sz="1000" dirty="0"/>
          </a:p>
        </p:txBody>
      </p:sp>
      <p:sp>
        <p:nvSpPr>
          <p:cNvPr id="9" name="Shape 7"/>
          <p:cNvSpPr/>
          <p:nvPr/>
        </p:nvSpPr>
        <p:spPr>
          <a:xfrm>
            <a:off x="2468880" y="1097280"/>
            <a:ext cx="1920240" cy="1417320"/>
          </a:xfrm>
          <a:prstGeom prst="rect">
            <a:avLst/>
          </a:prstGeom>
          <a:solidFill>
            <a:srgbClr val="F0F7FF"/>
          </a:solidFill>
          <a:ln w="12700">
            <a:solidFill>
              <a:srgbClr val="D6EAF8"/>
            </a:solidFill>
            <a:prstDash val="solid"/>
          </a:ln>
          <a:effectLst>
            <a:outerShdw blurRad="101600" dist="38100" dir="8100000" algn="bl" rotWithShape="0">
              <a:srgbClr val="000000">
                <a:alpha val="12000"/>
              </a:srgbClr>
            </a:outerShdw>
          </a:effectLst>
        </p:spPr>
      </p:sp>
      <p:sp>
        <p:nvSpPr>
          <p:cNvPr id="10" name="Text 8"/>
          <p:cNvSpPr/>
          <p:nvPr/>
        </p:nvSpPr>
        <p:spPr>
          <a:xfrm>
            <a:off x="2468880" y="1170432"/>
            <a:ext cx="1920240" cy="685800"/>
          </a:xfrm>
          <a:prstGeom prst="rect">
            <a:avLst/>
          </a:prstGeom>
          <a:noFill/>
          <a:ln/>
        </p:spPr>
        <p:txBody>
          <a:bodyPr wrap="square" lIns="0" tIns="0" rIns="0" bIns="0" rtlCol="0" anchor="ctr"/>
          <a:lstStyle/>
          <a:p>
            <a:pPr marL="0" indent="0" algn="ctr">
              <a:buNone/>
            </a:pPr>
            <a:r>
              <a:rPr lang="en-US" sz="3000" b="1" dirty="0">
                <a:solidFill>
                  <a:srgbClr val="065A82"/>
                </a:solidFill>
                <a:latin typeface="Calibri" pitchFamily="34" charset="0"/>
                <a:ea typeface="Calibri" pitchFamily="34" charset="-122"/>
                <a:cs typeface="Calibri" pitchFamily="34" charset="-120"/>
              </a:rPr>
              <a:t>420,768</a:t>
            </a:r>
            <a:endParaRPr lang="en-US" sz="3000" dirty="0"/>
          </a:p>
        </p:txBody>
      </p:sp>
      <p:sp>
        <p:nvSpPr>
          <p:cNvPr id="11" name="Text 9"/>
          <p:cNvSpPr/>
          <p:nvPr/>
        </p:nvSpPr>
        <p:spPr>
          <a:xfrm>
            <a:off x="2468880" y="1828800"/>
            <a:ext cx="1920240" cy="32004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Total Records</a:t>
            </a:r>
            <a:endParaRPr lang="en-US" sz="1100" dirty="0"/>
          </a:p>
        </p:txBody>
      </p:sp>
      <p:sp>
        <p:nvSpPr>
          <p:cNvPr id="12" name="Text 10"/>
          <p:cNvSpPr/>
          <p:nvPr/>
        </p:nvSpPr>
        <p:spPr>
          <a:xfrm>
            <a:off x="2468880" y="2148840"/>
            <a:ext cx="1920240" cy="27432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hourly readings</a:t>
            </a:r>
            <a:endParaRPr lang="en-US" sz="1000" dirty="0"/>
          </a:p>
        </p:txBody>
      </p:sp>
      <p:sp>
        <p:nvSpPr>
          <p:cNvPr id="13" name="Shape 11"/>
          <p:cNvSpPr/>
          <p:nvPr/>
        </p:nvSpPr>
        <p:spPr>
          <a:xfrm>
            <a:off x="4617720" y="1097280"/>
            <a:ext cx="1920240" cy="1417320"/>
          </a:xfrm>
          <a:prstGeom prst="rect">
            <a:avLst/>
          </a:prstGeom>
          <a:solidFill>
            <a:srgbClr val="F0F7FF"/>
          </a:solidFill>
          <a:ln w="12700">
            <a:solidFill>
              <a:srgbClr val="D6EAF8"/>
            </a:solidFill>
            <a:prstDash val="solid"/>
          </a:ln>
          <a:effectLst>
            <a:outerShdw blurRad="101600" dist="38100" dir="8100000" algn="bl" rotWithShape="0">
              <a:srgbClr val="000000">
                <a:alpha val="12000"/>
              </a:srgbClr>
            </a:outerShdw>
          </a:effectLst>
        </p:spPr>
      </p:sp>
      <p:sp>
        <p:nvSpPr>
          <p:cNvPr id="14" name="Text 12"/>
          <p:cNvSpPr/>
          <p:nvPr/>
        </p:nvSpPr>
        <p:spPr>
          <a:xfrm>
            <a:off x="4617720" y="1170432"/>
            <a:ext cx="1920240" cy="685800"/>
          </a:xfrm>
          <a:prstGeom prst="rect">
            <a:avLst/>
          </a:prstGeom>
          <a:noFill/>
          <a:ln/>
        </p:spPr>
        <p:txBody>
          <a:bodyPr wrap="square" lIns="0" tIns="0" rIns="0" bIns="0" rtlCol="0" anchor="ctr"/>
          <a:lstStyle/>
          <a:p>
            <a:pPr marL="0" indent="0" algn="ctr">
              <a:buNone/>
            </a:pPr>
            <a:r>
              <a:rPr lang="en-US" sz="3000" b="1" dirty="0">
                <a:solidFill>
                  <a:srgbClr val="065A82"/>
                </a:solidFill>
                <a:latin typeface="Calibri" pitchFamily="34" charset="0"/>
                <a:ea typeface="Calibri" pitchFamily="34" charset="-122"/>
                <a:cs typeface="Calibri" pitchFamily="34" charset="-120"/>
              </a:rPr>
              <a:t>18</a:t>
            </a:r>
            <a:endParaRPr lang="en-US" sz="3000" dirty="0"/>
          </a:p>
        </p:txBody>
      </p:sp>
      <p:sp>
        <p:nvSpPr>
          <p:cNvPr id="15" name="Text 13"/>
          <p:cNvSpPr/>
          <p:nvPr/>
        </p:nvSpPr>
        <p:spPr>
          <a:xfrm>
            <a:off x="4617720" y="1828800"/>
            <a:ext cx="1920240" cy="32004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Columns</a:t>
            </a:r>
            <a:endParaRPr lang="en-US" sz="1100" dirty="0"/>
          </a:p>
        </p:txBody>
      </p:sp>
      <p:sp>
        <p:nvSpPr>
          <p:cNvPr id="16" name="Text 14"/>
          <p:cNvSpPr/>
          <p:nvPr/>
        </p:nvSpPr>
        <p:spPr>
          <a:xfrm>
            <a:off x="4617720" y="2148840"/>
            <a:ext cx="1920240" cy="27432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features</a:t>
            </a:r>
            <a:endParaRPr lang="en-US" sz="1000" dirty="0"/>
          </a:p>
        </p:txBody>
      </p:sp>
      <p:sp>
        <p:nvSpPr>
          <p:cNvPr id="17" name="Shape 15"/>
          <p:cNvSpPr/>
          <p:nvPr/>
        </p:nvSpPr>
        <p:spPr>
          <a:xfrm>
            <a:off x="6766560" y="1097280"/>
            <a:ext cx="1920240" cy="1417320"/>
          </a:xfrm>
          <a:prstGeom prst="rect">
            <a:avLst/>
          </a:prstGeom>
          <a:solidFill>
            <a:srgbClr val="F0F7FF"/>
          </a:solidFill>
          <a:ln w="12700">
            <a:solidFill>
              <a:srgbClr val="D6EAF8"/>
            </a:solidFill>
            <a:prstDash val="solid"/>
          </a:ln>
          <a:effectLst>
            <a:outerShdw blurRad="101600" dist="38100" dir="8100000" algn="bl" rotWithShape="0">
              <a:srgbClr val="000000">
                <a:alpha val="12000"/>
              </a:srgbClr>
            </a:outerShdw>
          </a:effectLst>
        </p:spPr>
      </p:sp>
      <p:sp>
        <p:nvSpPr>
          <p:cNvPr id="18" name="Text 16"/>
          <p:cNvSpPr/>
          <p:nvPr/>
        </p:nvSpPr>
        <p:spPr>
          <a:xfrm>
            <a:off x="6766560" y="1170432"/>
            <a:ext cx="1920240" cy="685800"/>
          </a:xfrm>
          <a:prstGeom prst="rect">
            <a:avLst/>
          </a:prstGeom>
          <a:noFill/>
          <a:ln/>
        </p:spPr>
        <p:txBody>
          <a:bodyPr wrap="square" lIns="0" tIns="0" rIns="0" bIns="0" rtlCol="0" anchor="ctr"/>
          <a:lstStyle/>
          <a:p>
            <a:pPr marL="0" indent="0" algn="ctr">
              <a:buNone/>
            </a:pPr>
            <a:r>
              <a:rPr lang="en-US" sz="3000" b="1" dirty="0">
                <a:solidFill>
                  <a:srgbClr val="065A82"/>
                </a:solidFill>
                <a:latin typeface="Calibri" pitchFamily="34" charset="0"/>
                <a:ea typeface="Calibri" pitchFamily="34" charset="-122"/>
                <a:cs typeface="Calibri" pitchFamily="34" charset="-120"/>
              </a:rPr>
              <a:t>4 Years</a:t>
            </a:r>
            <a:endParaRPr lang="en-US" sz="3000" dirty="0"/>
          </a:p>
        </p:txBody>
      </p:sp>
      <p:sp>
        <p:nvSpPr>
          <p:cNvPr id="19" name="Text 17"/>
          <p:cNvSpPr/>
          <p:nvPr/>
        </p:nvSpPr>
        <p:spPr>
          <a:xfrm>
            <a:off x="6766560" y="1828800"/>
            <a:ext cx="1920240" cy="32004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Date Range</a:t>
            </a:r>
            <a:endParaRPr lang="en-US" sz="1100" dirty="0"/>
          </a:p>
        </p:txBody>
      </p:sp>
      <p:sp>
        <p:nvSpPr>
          <p:cNvPr id="20" name="Text 18"/>
          <p:cNvSpPr/>
          <p:nvPr/>
        </p:nvSpPr>
        <p:spPr>
          <a:xfrm>
            <a:off x="6766560" y="2148840"/>
            <a:ext cx="1920240" cy="27432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Mar 2013 – Feb 2017</a:t>
            </a:r>
            <a:endParaRPr lang="en-US" sz="1000" dirty="0"/>
          </a:p>
        </p:txBody>
      </p:sp>
      <p:sp>
        <p:nvSpPr>
          <p:cNvPr id="21" name="Text 19"/>
          <p:cNvSpPr/>
          <p:nvPr/>
        </p:nvSpPr>
        <p:spPr>
          <a:xfrm>
            <a:off x="320040" y="2743200"/>
            <a:ext cx="8503920" cy="32004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Key Columns in the Dataset</a:t>
            </a:r>
            <a:endParaRPr lang="en-US" sz="1400" dirty="0"/>
          </a:p>
        </p:txBody>
      </p:sp>
      <p:sp>
        <p:nvSpPr>
          <p:cNvPr id="22" name="Shape 20"/>
          <p:cNvSpPr/>
          <p:nvPr/>
        </p:nvSpPr>
        <p:spPr>
          <a:xfrm>
            <a:off x="320040" y="3154680"/>
            <a:ext cx="2926080" cy="310896"/>
          </a:xfrm>
          <a:prstGeom prst="rect">
            <a:avLst/>
          </a:prstGeom>
          <a:solidFill>
            <a:srgbClr val="D6EAF8"/>
          </a:solidFill>
          <a:ln w="12700">
            <a:solidFill>
              <a:srgbClr val="D6EAF8"/>
            </a:solidFill>
            <a:prstDash val="solid"/>
          </a:ln>
        </p:spPr>
      </p:sp>
      <p:sp>
        <p:nvSpPr>
          <p:cNvPr id="23" name="Text 21"/>
          <p:cNvSpPr/>
          <p:nvPr/>
        </p:nvSpPr>
        <p:spPr>
          <a:xfrm>
            <a:off x="411480" y="3154680"/>
            <a:ext cx="2743200" cy="310896"/>
          </a:xfrm>
          <a:prstGeom prst="rect">
            <a:avLst/>
          </a:prstGeom>
          <a:noFill/>
          <a:ln/>
        </p:spPr>
        <p:txBody>
          <a:bodyPr wrap="square" lIns="0" tIns="0" rIns="0" bIns="0"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No, year, month, day, hour</a:t>
            </a:r>
            <a:endParaRPr lang="en-US" sz="1000" dirty="0"/>
          </a:p>
        </p:txBody>
      </p:sp>
      <p:sp>
        <p:nvSpPr>
          <p:cNvPr id="24" name="Shape 22"/>
          <p:cNvSpPr/>
          <p:nvPr/>
        </p:nvSpPr>
        <p:spPr>
          <a:xfrm>
            <a:off x="3246120" y="3154680"/>
            <a:ext cx="5577840" cy="310896"/>
          </a:xfrm>
          <a:prstGeom prst="rect">
            <a:avLst/>
          </a:prstGeom>
          <a:solidFill>
            <a:srgbClr val="D6EAF8"/>
          </a:solidFill>
          <a:ln w="12700">
            <a:solidFill>
              <a:srgbClr val="D6EAF8"/>
            </a:solidFill>
            <a:prstDash val="solid"/>
          </a:ln>
        </p:spPr>
      </p:sp>
      <p:sp>
        <p:nvSpPr>
          <p:cNvPr id="25" name="Text 23"/>
          <p:cNvSpPr/>
          <p:nvPr/>
        </p:nvSpPr>
        <p:spPr>
          <a:xfrm>
            <a:off x="3337560" y="3154680"/>
            <a:ext cx="5394960" cy="31089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Timestamp components</a:t>
            </a:r>
            <a:endParaRPr lang="en-US" sz="1000" dirty="0"/>
          </a:p>
        </p:txBody>
      </p:sp>
      <p:sp>
        <p:nvSpPr>
          <p:cNvPr id="26" name="Shape 24"/>
          <p:cNvSpPr/>
          <p:nvPr/>
        </p:nvSpPr>
        <p:spPr>
          <a:xfrm>
            <a:off x="320040" y="3502152"/>
            <a:ext cx="2926080" cy="310896"/>
          </a:xfrm>
          <a:prstGeom prst="rect">
            <a:avLst/>
          </a:prstGeom>
          <a:solidFill>
            <a:srgbClr val="FFFFFF"/>
          </a:solidFill>
          <a:ln w="12700">
            <a:solidFill>
              <a:srgbClr val="D6EAF8"/>
            </a:solidFill>
            <a:prstDash val="solid"/>
          </a:ln>
        </p:spPr>
      </p:sp>
      <p:sp>
        <p:nvSpPr>
          <p:cNvPr id="27" name="Text 25"/>
          <p:cNvSpPr/>
          <p:nvPr/>
        </p:nvSpPr>
        <p:spPr>
          <a:xfrm>
            <a:off x="411480" y="3502152"/>
            <a:ext cx="2743200" cy="310896"/>
          </a:xfrm>
          <a:prstGeom prst="rect">
            <a:avLst/>
          </a:prstGeom>
          <a:noFill/>
          <a:ln/>
        </p:spPr>
        <p:txBody>
          <a:bodyPr wrap="square" lIns="0" tIns="0" rIns="0" bIns="0"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PM2.5, PM10</a:t>
            </a:r>
            <a:endParaRPr lang="en-US" sz="1000" dirty="0"/>
          </a:p>
        </p:txBody>
      </p:sp>
      <p:sp>
        <p:nvSpPr>
          <p:cNvPr id="28" name="Shape 26"/>
          <p:cNvSpPr/>
          <p:nvPr/>
        </p:nvSpPr>
        <p:spPr>
          <a:xfrm>
            <a:off x="3246120" y="3502152"/>
            <a:ext cx="5577840" cy="310896"/>
          </a:xfrm>
          <a:prstGeom prst="rect">
            <a:avLst/>
          </a:prstGeom>
          <a:solidFill>
            <a:srgbClr val="FFFFFF"/>
          </a:solidFill>
          <a:ln w="12700">
            <a:solidFill>
              <a:srgbClr val="D6EAF8"/>
            </a:solidFill>
            <a:prstDash val="solid"/>
          </a:ln>
        </p:spPr>
      </p:sp>
      <p:sp>
        <p:nvSpPr>
          <p:cNvPr id="29" name="Text 27"/>
          <p:cNvSpPr/>
          <p:nvPr/>
        </p:nvSpPr>
        <p:spPr>
          <a:xfrm>
            <a:off x="3337560" y="3502152"/>
            <a:ext cx="5394960" cy="31089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Fine &amp; coarse particulate matter (µg/m³)</a:t>
            </a:r>
            <a:endParaRPr lang="en-US" sz="1000" dirty="0"/>
          </a:p>
        </p:txBody>
      </p:sp>
      <p:sp>
        <p:nvSpPr>
          <p:cNvPr id="30" name="Shape 28"/>
          <p:cNvSpPr/>
          <p:nvPr/>
        </p:nvSpPr>
        <p:spPr>
          <a:xfrm>
            <a:off x="320040" y="3849624"/>
            <a:ext cx="2926080" cy="310896"/>
          </a:xfrm>
          <a:prstGeom prst="rect">
            <a:avLst/>
          </a:prstGeom>
          <a:solidFill>
            <a:srgbClr val="D6EAF8"/>
          </a:solidFill>
          <a:ln w="12700">
            <a:solidFill>
              <a:srgbClr val="D6EAF8"/>
            </a:solidFill>
            <a:prstDash val="solid"/>
          </a:ln>
        </p:spPr>
      </p:sp>
      <p:sp>
        <p:nvSpPr>
          <p:cNvPr id="31" name="Text 29"/>
          <p:cNvSpPr/>
          <p:nvPr/>
        </p:nvSpPr>
        <p:spPr>
          <a:xfrm>
            <a:off x="411480" y="3849624"/>
            <a:ext cx="2743200" cy="310896"/>
          </a:xfrm>
          <a:prstGeom prst="rect">
            <a:avLst/>
          </a:prstGeom>
          <a:noFill/>
          <a:ln/>
        </p:spPr>
        <p:txBody>
          <a:bodyPr wrap="square" lIns="0" tIns="0" rIns="0" bIns="0"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SO2, NO2, CO, O3</a:t>
            </a:r>
            <a:endParaRPr lang="en-US" sz="1000" dirty="0"/>
          </a:p>
        </p:txBody>
      </p:sp>
      <p:sp>
        <p:nvSpPr>
          <p:cNvPr id="32" name="Shape 30"/>
          <p:cNvSpPr/>
          <p:nvPr/>
        </p:nvSpPr>
        <p:spPr>
          <a:xfrm>
            <a:off x="3246120" y="3849624"/>
            <a:ext cx="5577840" cy="310896"/>
          </a:xfrm>
          <a:prstGeom prst="rect">
            <a:avLst/>
          </a:prstGeom>
          <a:solidFill>
            <a:srgbClr val="D6EAF8"/>
          </a:solidFill>
          <a:ln w="12700">
            <a:solidFill>
              <a:srgbClr val="D6EAF8"/>
            </a:solidFill>
            <a:prstDash val="solid"/>
          </a:ln>
        </p:spPr>
      </p:sp>
      <p:sp>
        <p:nvSpPr>
          <p:cNvPr id="33" name="Text 31"/>
          <p:cNvSpPr/>
          <p:nvPr/>
        </p:nvSpPr>
        <p:spPr>
          <a:xfrm>
            <a:off x="3337560" y="3849624"/>
            <a:ext cx="5394960" cy="31089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Gas pollutants</a:t>
            </a:r>
            <a:endParaRPr lang="en-US" sz="1000" dirty="0"/>
          </a:p>
        </p:txBody>
      </p:sp>
      <p:sp>
        <p:nvSpPr>
          <p:cNvPr id="34" name="Shape 32"/>
          <p:cNvSpPr/>
          <p:nvPr/>
        </p:nvSpPr>
        <p:spPr>
          <a:xfrm>
            <a:off x="320040" y="4197096"/>
            <a:ext cx="2926080" cy="310896"/>
          </a:xfrm>
          <a:prstGeom prst="rect">
            <a:avLst/>
          </a:prstGeom>
          <a:solidFill>
            <a:srgbClr val="FFFFFF"/>
          </a:solidFill>
          <a:ln w="12700">
            <a:solidFill>
              <a:srgbClr val="D6EAF8"/>
            </a:solidFill>
            <a:prstDash val="solid"/>
          </a:ln>
        </p:spPr>
      </p:sp>
      <p:sp>
        <p:nvSpPr>
          <p:cNvPr id="35" name="Text 33"/>
          <p:cNvSpPr/>
          <p:nvPr/>
        </p:nvSpPr>
        <p:spPr>
          <a:xfrm>
            <a:off x="411480" y="4197096"/>
            <a:ext cx="2743200" cy="310896"/>
          </a:xfrm>
          <a:prstGeom prst="rect">
            <a:avLst/>
          </a:prstGeom>
          <a:noFill/>
          <a:ln/>
        </p:spPr>
        <p:txBody>
          <a:bodyPr wrap="square" lIns="0" tIns="0" rIns="0" bIns="0"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TEMP, PRES, DEWP, RAIN, WSPM, wd</a:t>
            </a:r>
            <a:endParaRPr lang="en-US" sz="1000" dirty="0"/>
          </a:p>
        </p:txBody>
      </p:sp>
      <p:sp>
        <p:nvSpPr>
          <p:cNvPr id="36" name="Shape 34"/>
          <p:cNvSpPr/>
          <p:nvPr/>
        </p:nvSpPr>
        <p:spPr>
          <a:xfrm>
            <a:off x="3246120" y="4197096"/>
            <a:ext cx="5577840" cy="310896"/>
          </a:xfrm>
          <a:prstGeom prst="rect">
            <a:avLst/>
          </a:prstGeom>
          <a:solidFill>
            <a:srgbClr val="FFFFFF"/>
          </a:solidFill>
          <a:ln w="12700">
            <a:solidFill>
              <a:srgbClr val="D6EAF8"/>
            </a:solidFill>
            <a:prstDash val="solid"/>
          </a:ln>
        </p:spPr>
      </p:sp>
      <p:sp>
        <p:nvSpPr>
          <p:cNvPr id="37" name="Text 35"/>
          <p:cNvSpPr/>
          <p:nvPr/>
        </p:nvSpPr>
        <p:spPr>
          <a:xfrm>
            <a:off x="3337560" y="4197096"/>
            <a:ext cx="5394960" cy="31089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Weather variables</a:t>
            </a:r>
            <a:endParaRPr lang="en-US" sz="1000" dirty="0"/>
          </a:p>
        </p:txBody>
      </p:sp>
      <p:sp>
        <p:nvSpPr>
          <p:cNvPr id="38" name="Shape 36"/>
          <p:cNvSpPr/>
          <p:nvPr/>
        </p:nvSpPr>
        <p:spPr>
          <a:xfrm>
            <a:off x="320040" y="4544568"/>
            <a:ext cx="2926080" cy="310896"/>
          </a:xfrm>
          <a:prstGeom prst="rect">
            <a:avLst/>
          </a:prstGeom>
          <a:solidFill>
            <a:srgbClr val="D6EAF8"/>
          </a:solidFill>
          <a:ln w="12700">
            <a:solidFill>
              <a:srgbClr val="D6EAF8"/>
            </a:solidFill>
            <a:prstDash val="solid"/>
          </a:ln>
        </p:spPr>
      </p:sp>
      <p:sp>
        <p:nvSpPr>
          <p:cNvPr id="39" name="Text 37"/>
          <p:cNvSpPr/>
          <p:nvPr/>
        </p:nvSpPr>
        <p:spPr>
          <a:xfrm>
            <a:off x="411480" y="4544568"/>
            <a:ext cx="2743200" cy="310896"/>
          </a:xfrm>
          <a:prstGeom prst="rect">
            <a:avLst/>
          </a:prstGeom>
          <a:noFill/>
          <a:ln/>
        </p:spPr>
        <p:txBody>
          <a:bodyPr wrap="square" lIns="0" tIns="0" rIns="0" bIns="0"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station</a:t>
            </a:r>
            <a:endParaRPr lang="en-US" sz="1000" dirty="0"/>
          </a:p>
        </p:txBody>
      </p:sp>
      <p:sp>
        <p:nvSpPr>
          <p:cNvPr id="40" name="Shape 38"/>
          <p:cNvSpPr/>
          <p:nvPr/>
        </p:nvSpPr>
        <p:spPr>
          <a:xfrm>
            <a:off x="3246120" y="4544568"/>
            <a:ext cx="5577840" cy="310896"/>
          </a:xfrm>
          <a:prstGeom prst="rect">
            <a:avLst/>
          </a:prstGeom>
          <a:solidFill>
            <a:srgbClr val="D6EAF8"/>
          </a:solidFill>
          <a:ln w="12700">
            <a:solidFill>
              <a:srgbClr val="D6EAF8"/>
            </a:solidFill>
            <a:prstDash val="solid"/>
          </a:ln>
        </p:spPr>
      </p:sp>
      <p:sp>
        <p:nvSpPr>
          <p:cNvPr id="41" name="Text 39"/>
          <p:cNvSpPr/>
          <p:nvPr/>
        </p:nvSpPr>
        <p:spPr>
          <a:xfrm>
            <a:off x="3337560" y="4544568"/>
            <a:ext cx="5394960" cy="31089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One of 12 Beijing monitoring stations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ccentBar"/>
          <p:cNvSpPr/>
          <p:nvPr/>
        </p:nvSpPr>
        <p:spPr>
          <a:xfrm>
            <a:off x="0" y="0"/>
            <a:ext cx="164592" cy="5143500"/>
          </a:xfrm>
          <a:prstGeom prst="rect">
            <a:avLst/>
          </a:prstGeom>
          <a:solidFill>
            <a:srgbClr val="065A82"/>
          </a:solidFill>
          <a:ln w="12700">
            <a:solidFill>
              <a:srgbClr val="065A82"/>
            </a:solidFill>
          </a:ln>
        </p:spPr>
      </p:sp>
      <p:sp>
        <p:nvSpPr>
          <p:cNvPr id="3" name="HeaderBand"/>
          <p:cNvSpPr/>
          <p:nvPr/>
        </p:nvSpPr>
        <p:spPr>
          <a:xfrm>
            <a:off x="164592" y="0"/>
            <a:ext cx="8979408" cy="914400"/>
          </a:xfrm>
          <a:prstGeom prst="rect">
            <a:avLst/>
          </a:prstGeom>
          <a:solidFill>
            <a:srgbClr val="D6EAF8"/>
          </a:solidFill>
          <a:ln w="12700">
            <a:solidFill>
              <a:srgbClr val="D6EAF8"/>
            </a:solidFill>
          </a:ln>
        </p:spPr>
      </p:sp>
      <p:sp>
        <p:nvSpPr>
          <p:cNvPr id="4" name="Title"/>
          <p:cNvSpPr/>
          <p:nvPr/>
        </p:nvSpPr>
        <p:spPr>
          <a:xfrm>
            <a:off x="365760" y="0"/>
            <a:ext cx="8595360" cy="914400"/>
          </a:xfrm>
          <a:prstGeom prst="rect">
            <a:avLst/>
          </a:prstGeom>
          <a:noFill/>
          <a:ln/>
        </p:spPr>
        <p:txBody>
          <a:bodyPr wrap="square" lIns="0" tIns="0" rIns="0" bIns="0" rtlCol="0" anchor="ctr"/>
          <a:lstStyle/>
          <a:p>
            <a:r>
              <a:rPr lang="en-US" sz="2600" b="1" dirty="0">
                <a:solidFill>
                  <a:srgbClr val="065A82"/>
                </a:solidFill>
                <a:latin typeface="Calibri" pitchFamily="34" charset="0"/>
              </a:rPr>
              <a:t>Dataset Column Descriptions</a:t>
            </a:r>
          </a:p>
        </p:txBody>
      </p:sp>
      <p:sp>
        <p:nvSpPr>
          <p:cNvPr id="5" name="SecLabel1"/>
          <p:cNvSpPr/>
          <p:nvPr/>
        </p:nvSpPr>
        <p:spPr>
          <a:xfrm>
            <a:off x="274638" y="980000"/>
            <a:ext cx="1200000" cy="320000"/>
          </a:xfrm>
          <a:prstGeom prst="rect">
            <a:avLst/>
          </a:prstGeom>
          <a:solidFill>
            <a:srgbClr val="065A82"/>
          </a:solidFill>
          <a:ln w="12700">
            <a:solidFill>
              <a:srgbClr val="065A82"/>
            </a:solidFill>
          </a:ln>
        </p:spPr>
        <p:txBody>
          <a:bodyPr wrap="square" lIns="91440" tIns="45720" rIns="91440" bIns="45720" rtlCol="0" anchor="ctr"/>
          <a:lstStyle/>
          <a:p>
            <a:r>
              <a:rPr lang="en-US" sz="1000" b="1" dirty="0">
                <a:solidFill>
                  <a:srgbClr val="FFFFFF"/>
                </a:solidFill>
                <a:latin typeface="Calibri" pitchFamily="34" charset="0"/>
              </a:rPr>
              <a:t>📅 IDENTIFIERS</a:t>
            </a:r>
          </a:p>
        </p:txBody>
      </p:sp>
      <p:sp>
        <p:nvSpPr>
          <p:cNvPr id="6" name="IdTable"/>
          <p:cNvSpPr/>
          <p:nvPr/>
        </p:nvSpPr>
        <p:spPr>
          <a:xfrm>
            <a:off x="274638" y="1330000"/>
            <a:ext cx="4400000" cy="1013976"/>
          </a:xfrm>
          <a:prstGeom prst="rect">
            <a:avLst/>
          </a:prstGeom>
          <a:solidFill>
            <a:srgbClr val="F0F7FF"/>
          </a:solidFill>
          <a:ln w="9525">
            <a:solidFill>
              <a:srgbClr val="D6EAF8"/>
            </a:solidFill>
          </a:ln>
        </p:spPr>
        <p:txBody>
          <a:bodyPr wrap="square" lIns="137160" tIns="91440" rIns="137160" bIns="91440" rtlCol="0" anchor="t"/>
          <a:lstStyle/>
          <a:p>
            <a:r>
              <a:rPr lang="en-US" sz="1100" b="1" dirty="0">
                <a:solidFill>
                  <a:srgbClr val="065A82"/>
                </a:solidFill>
                <a:latin typeface="Calibri"/>
              </a:rPr>
              <a:t>No</a:t>
            </a:r>
            <a:r>
              <a:rPr lang="en-US" sz="1100" b="1" dirty="0">
                <a:solidFill>
                  <a:srgbClr val="1E293B"/>
                </a:solidFill>
                <a:latin typeface="Calibri"/>
              </a:rPr>
              <a:t>:</a:t>
            </a:r>
            <a:r>
              <a:rPr lang="en-US" sz="1100" dirty="0">
                <a:solidFill>
                  <a:srgbClr val="1E293B"/>
                </a:solidFill>
                <a:latin typeface="Calibri"/>
              </a:rPr>
              <a:t>  Row index number within each station file</a:t>
            </a:r>
          </a:p>
          <a:p>
            <a:r>
              <a:rPr lang="en-US" sz="1100" b="1" dirty="0">
                <a:solidFill>
                  <a:srgbClr val="065A82"/>
                </a:solidFill>
                <a:latin typeface="Calibri"/>
              </a:rPr>
              <a:t>year, month, day, hour</a:t>
            </a:r>
            <a:r>
              <a:rPr lang="en-US" sz="1100" b="1" dirty="0">
                <a:solidFill>
                  <a:srgbClr val="1E293B"/>
                </a:solidFill>
                <a:latin typeface="Calibri"/>
              </a:rPr>
              <a:t>:</a:t>
            </a:r>
            <a:r>
              <a:rPr lang="en-US" sz="1100" dirty="0">
                <a:solidFill>
                  <a:srgbClr val="1E293B"/>
                </a:solidFill>
                <a:latin typeface="Calibri"/>
              </a:rPr>
              <a:t>  Timestamp broken into 4 separate integer columns</a:t>
            </a:r>
          </a:p>
          <a:p>
            <a:r>
              <a:rPr lang="en-US" sz="1100" b="1" dirty="0">
                <a:solidFill>
                  <a:srgbClr val="065A82"/>
                </a:solidFill>
                <a:latin typeface="Calibri"/>
              </a:rPr>
              <a:t>Station</a:t>
            </a:r>
            <a:r>
              <a:rPr lang="en-US" sz="1100" b="1" dirty="0">
                <a:solidFill>
                  <a:srgbClr val="1E293B"/>
                </a:solidFill>
                <a:latin typeface="Calibri"/>
              </a:rPr>
              <a:t>:</a:t>
            </a:r>
            <a:r>
              <a:rPr lang="en-US" sz="1100" dirty="0">
                <a:solidFill>
                  <a:srgbClr val="1E293B"/>
                </a:solidFill>
                <a:latin typeface="Calibri"/>
              </a:rPr>
              <a:t>  Name of the monitoring station (one of 12 locations across Beijing)</a:t>
            </a:r>
          </a:p>
        </p:txBody>
      </p:sp>
      <p:sp>
        <p:nvSpPr>
          <p:cNvPr id="7" name="SecLabel2"/>
          <p:cNvSpPr/>
          <p:nvPr/>
        </p:nvSpPr>
        <p:spPr>
          <a:xfrm>
            <a:off x="274638" y="2379576"/>
            <a:ext cx="1200000" cy="320000"/>
          </a:xfrm>
          <a:prstGeom prst="rect">
            <a:avLst/>
          </a:prstGeom>
          <a:solidFill>
            <a:srgbClr val="1C7293"/>
          </a:solidFill>
          <a:ln w="12700">
            <a:solidFill>
              <a:srgbClr val="1C7293"/>
            </a:solidFill>
          </a:ln>
        </p:spPr>
        <p:txBody>
          <a:bodyPr wrap="square" lIns="91440" tIns="45720" rIns="91440" bIns="45720" rtlCol="0" anchor="ctr"/>
          <a:lstStyle/>
          <a:p>
            <a:r>
              <a:rPr lang="en-US" sz="1000" b="1" dirty="0">
                <a:solidFill>
                  <a:srgbClr val="FFFFFF"/>
                </a:solidFill>
                <a:latin typeface="Calibri" pitchFamily="34" charset="0"/>
              </a:rPr>
              <a:t>🌫 POLLUTANTS</a:t>
            </a:r>
          </a:p>
        </p:txBody>
      </p:sp>
      <p:sp>
        <p:nvSpPr>
          <p:cNvPr id="8" name="PollTable"/>
          <p:cNvSpPr/>
          <p:nvPr/>
        </p:nvSpPr>
        <p:spPr>
          <a:xfrm>
            <a:off x="274638" y="2729576"/>
            <a:ext cx="4400000" cy="2350000"/>
          </a:xfrm>
          <a:prstGeom prst="rect">
            <a:avLst/>
          </a:prstGeom>
          <a:solidFill>
            <a:srgbClr val="F0F7FF"/>
          </a:solidFill>
          <a:ln w="9525">
            <a:solidFill>
              <a:srgbClr val="D6EAF8"/>
            </a:solidFill>
          </a:ln>
        </p:spPr>
        <p:txBody>
          <a:bodyPr wrap="square" lIns="137160" tIns="91440" rIns="137160" bIns="91440" rtlCol="0" anchor="t"/>
          <a:lstStyle/>
          <a:p>
            <a:r>
              <a:rPr lang="en-US" sz="950" b="1" dirty="0">
                <a:solidFill>
                  <a:srgbClr val="065A82"/>
                </a:solidFill>
                <a:latin typeface="Calibri"/>
              </a:rPr>
              <a:t>PM2.5</a:t>
            </a:r>
            <a:r>
              <a:rPr lang="en-US" sz="1000" b="1" dirty="0">
                <a:solidFill>
                  <a:srgbClr val="1E293B"/>
                </a:solidFill>
              </a:rPr>
              <a:t>:</a:t>
            </a:r>
            <a:r>
              <a:rPr lang="en-US" sz="950" dirty="0">
                <a:solidFill>
                  <a:srgbClr val="1E293B"/>
                </a:solidFill>
                <a:latin typeface="Calibri"/>
              </a:rPr>
              <a:t> Fine particulate matter ≤2.5 micrometres. Most harmful to human health; penetrates deep into lungs and bloodstream. Unit: µg/m³</a:t>
            </a:r>
            <a:endParaRPr lang="en-US" sz="950" b="1" dirty="0">
              <a:solidFill>
                <a:srgbClr val="065A82"/>
              </a:solidFill>
              <a:latin typeface="Calibri"/>
            </a:endParaRPr>
          </a:p>
          <a:p>
            <a:r>
              <a:rPr lang="en-US" sz="950" b="1" dirty="0">
                <a:solidFill>
                  <a:srgbClr val="065A82"/>
                </a:solidFill>
                <a:latin typeface="Calibri"/>
              </a:rPr>
              <a:t>PM10</a:t>
            </a:r>
            <a:r>
              <a:rPr lang="en-US" sz="1000" b="1" dirty="0">
                <a:solidFill>
                  <a:srgbClr val="1E293B"/>
                </a:solidFill>
              </a:rPr>
              <a:t>:</a:t>
            </a:r>
            <a:r>
              <a:rPr lang="en-US" sz="950" dirty="0">
                <a:solidFill>
                  <a:srgbClr val="1E293B"/>
                </a:solidFill>
                <a:latin typeface="Calibri"/>
              </a:rPr>
              <a:t> Coarser particulate matter ≤10 micrometres. Includes PM2.5 plus larger dust and pollen particles. Unit: µg/m³</a:t>
            </a:r>
            <a:endParaRPr lang="en-US" sz="950" b="1" dirty="0">
              <a:solidFill>
                <a:srgbClr val="065A82"/>
              </a:solidFill>
              <a:latin typeface="Calibri"/>
            </a:endParaRPr>
          </a:p>
          <a:p>
            <a:r>
              <a:rPr lang="en-US" sz="950" b="1" dirty="0">
                <a:solidFill>
                  <a:srgbClr val="065A82"/>
                </a:solidFill>
                <a:latin typeface="Calibri"/>
              </a:rPr>
              <a:t>SO2</a:t>
            </a:r>
            <a:r>
              <a:rPr lang="en-US" sz="950" b="1" dirty="0">
                <a:solidFill>
                  <a:srgbClr val="1E293B"/>
                </a:solidFill>
                <a:latin typeface="Calibri"/>
              </a:rPr>
              <a:t>: </a:t>
            </a:r>
            <a:r>
              <a:rPr lang="en-US" sz="950" dirty="0">
                <a:solidFill>
                  <a:srgbClr val="1E293B"/>
                </a:solidFill>
                <a:latin typeface="Calibri"/>
              </a:rPr>
              <a:t>Sulphur dioxide. Released by coal burning and industrial processes. Causes respiratory irritation and acid rain. Unit: µg/m³</a:t>
            </a:r>
          </a:p>
          <a:p>
            <a:endParaRPr lang="en-US" sz="200" dirty="0"/>
          </a:p>
          <a:p>
            <a:r>
              <a:rPr lang="en-US" sz="950" b="1" dirty="0">
                <a:solidFill>
                  <a:srgbClr val="065A82"/>
                </a:solidFill>
                <a:latin typeface="Calibri"/>
              </a:rPr>
              <a:t>NO2</a:t>
            </a:r>
            <a:r>
              <a:rPr lang="en-US" sz="950" b="1" dirty="0">
                <a:solidFill>
                  <a:srgbClr val="1E293B"/>
                </a:solidFill>
                <a:latin typeface="Calibri"/>
              </a:rPr>
              <a:t>:</a:t>
            </a:r>
            <a:r>
              <a:rPr lang="en-US" sz="950" dirty="0">
                <a:solidFill>
                  <a:srgbClr val="1E293B"/>
                </a:solidFill>
                <a:latin typeface="Calibri"/>
              </a:rPr>
              <a:t> Nitrogen dioxide. Emitted by vehicles and power plants. Contributes to smog formation and lung damage. Unit: µg/m³</a:t>
            </a:r>
          </a:p>
          <a:p>
            <a:endParaRPr lang="en-US" sz="200" dirty="0"/>
          </a:p>
          <a:p>
            <a:r>
              <a:rPr lang="en-US" sz="950" b="1" dirty="0">
                <a:solidFill>
                  <a:srgbClr val="065A82"/>
                </a:solidFill>
                <a:latin typeface="Calibri"/>
              </a:rPr>
              <a:t>CO</a:t>
            </a:r>
            <a:r>
              <a:rPr lang="en-US" sz="950" b="1" dirty="0">
                <a:solidFill>
                  <a:srgbClr val="1E293B"/>
                </a:solidFill>
                <a:latin typeface="Calibri"/>
              </a:rPr>
              <a:t>:</a:t>
            </a:r>
            <a:r>
              <a:rPr lang="en-US" sz="950" dirty="0">
                <a:solidFill>
                  <a:srgbClr val="1E293B"/>
                </a:solidFill>
                <a:latin typeface="Calibri"/>
              </a:rPr>
              <a:t> Carbon monoxide. Product of incomplete combustion (vehicles, heating). Values in thousands because CO is emitted in large mass quantities. Unit: µg/m³</a:t>
            </a:r>
          </a:p>
          <a:p>
            <a:endParaRPr lang="en-US" sz="200" dirty="0"/>
          </a:p>
          <a:p>
            <a:r>
              <a:rPr lang="en-US" sz="950" b="1" dirty="0">
                <a:solidFill>
                  <a:srgbClr val="065A82"/>
                </a:solidFill>
                <a:latin typeface="Calibri"/>
              </a:rPr>
              <a:t>O3</a:t>
            </a:r>
            <a:r>
              <a:rPr lang="en-US" sz="950" b="1" dirty="0">
                <a:solidFill>
                  <a:srgbClr val="1E293B"/>
                </a:solidFill>
                <a:latin typeface="Calibri"/>
              </a:rPr>
              <a:t>: </a:t>
            </a:r>
            <a:r>
              <a:rPr lang="en-US" sz="950" dirty="0">
                <a:solidFill>
                  <a:srgbClr val="1E293B"/>
                </a:solidFill>
                <a:latin typeface="Calibri"/>
              </a:rPr>
              <a:t>Ground-level ozone. Forms via sunlight reacting with NO2. Higher in summer; negatively correlated with PM2.5. Unit: µg/m³</a:t>
            </a:r>
          </a:p>
        </p:txBody>
      </p:sp>
      <p:sp>
        <p:nvSpPr>
          <p:cNvPr id="9" name="SecLabel3"/>
          <p:cNvSpPr/>
          <p:nvPr/>
        </p:nvSpPr>
        <p:spPr>
          <a:xfrm>
            <a:off x="4857600" y="977126"/>
            <a:ext cx="1200000" cy="320000"/>
          </a:xfrm>
          <a:prstGeom prst="rect">
            <a:avLst/>
          </a:prstGeom>
          <a:solidFill>
            <a:srgbClr val="021B2E"/>
          </a:solidFill>
          <a:ln w="12700">
            <a:solidFill>
              <a:srgbClr val="021B2E"/>
            </a:solidFill>
          </a:ln>
        </p:spPr>
        <p:txBody>
          <a:bodyPr wrap="square" lIns="91440" tIns="45720" rIns="91440" bIns="45720" rtlCol="0" anchor="ctr"/>
          <a:lstStyle/>
          <a:p>
            <a:r>
              <a:rPr lang="en-US" sz="1000" b="1" dirty="0">
                <a:solidFill>
                  <a:srgbClr val="FFFFFF"/>
                </a:solidFill>
                <a:latin typeface="Calibri" pitchFamily="34" charset="0"/>
              </a:rPr>
              <a:t>🌧 WEATHER</a:t>
            </a:r>
          </a:p>
        </p:txBody>
      </p:sp>
      <p:sp>
        <p:nvSpPr>
          <p:cNvPr id="10" name="WeatherTable"/>
          <p:cNvSpPr/>
          <p:nvPr/>
        </p:nvSpPr>
        <p:spPr>
          <a:xfrm>
            <a:off x="4857600" y="1330000"/>
            <a:ext cx="4200000" cy="3749576"/>
          </a:xfrm>
          <a:prstGeom prst="rect">
            <a:avLst/>
          </a:prstGeom>
          <a:solidFill>
            <a:srgbClr val="F0F7FF"/>
          </a:solidFill>
          <a:ln w="9525">
            <a:solidFill>
              <a:srgbClr val="D6EAF8"/>
            </a:solidFill>
          </a:ln>
        </p:spPr>
        <p:txBody>
          <a:bodyPr wrap="square" lIns="137160" tIns="91440" rIns="137160" bIns="91440" rtlCol="0" anchor="t"/>
          <a:lstStyle/>
          <a:p>
            <a:r>
              <a:rPr lang="en-US" sz="1100" b="1" dirty="0">
                <a:solidFill>
                  <a:srgbClr val="065A82"/>
                </a:solidFill>
                <a:latin typeface="Calibri"/>
              </a:rPr>
              <a:t>TEMP</a:t>
            </a:r>
            <a:r>
              <a:rPr lang="en-US" sz="1100" b="1" dirty="0">
                <a:solidFill>
                  <a:srgbClr val="1E293B"/>
                </a:solidFill>
                <a:latin typeface="Calibri"/>
              </a:rPr>
              <a:t>:</a:t>
            </a:r>
            <a:r>
              <a:rPr lang="en-US" sz="1100" dirty="0">
                <a:solidFill>
                  <a:srgbClr val="1E293B"/>
                </a:solidFill>
                <a:latin typeface="Calibri"/>
              </a:rPr>
              <a:t>  Air temperature in degrees Celsius. Negative in winter. Key driver of pollution — cold air traps pollutants near the surface.</a:t>
            </a:r>
          </a:p>
          <a:p>
            <a:endParaRPr lang="en-US" sz="400" dirty="0"/>
          </a:p>
          <a:p>
            <a:endParaRPr lang="en-US" sz="1100" b="1" dirty="0">
              <a:solidFill>
                <a:srgbClr val="065A82"/>
              </a:solidFill>
              <a:latin typeface="Calibri"/>
            </a:endParaRPr>
          </a:p>
          <a:p>
            <a:r>
              <a:rPr lang="en-US" sz="1100" b="1" dirty="0">
                <a:solidFill>
                  <a:srgbClr val="065A82"/>
                </a:solidFill>
                <a:latin typeface="Calibri"/>
              </a:rPr>
              <a:t>PRES</a:t>
            </a:r>
            <a:r>
              <a:rPr lang="en-US" sz="1100" b="1" dirty="0">
                <a:solidFill>
                  <a:srgbClr val="1E293B"/>
                </a:solidFill>
                <a:latin typeface="Calibri"/>
              </a:rPr>
              <a:t>:</a:t>
            </a:r>
            <a:r>
              <a:rPr lang="en-US" sz="1100" dirty="0">
                <a:solidFill>
                  <a:srgbClr val="1E293B"/>
                </a:solidFill>
                <a:latin typeface="Calibri"/>
              </a:rPr>
              <a:t>  Atmospheric pressure in hPa. Higher in winter (cold air is denser). Strongly negative correlation with TEMP (r = −0.81).</a:t>
            </a:r>
          </a:p>
          <a:p>
            <a:endParaRPr lang="en-US" sz="400" dirty="0"/>
          </a:p>
          <a:p>
            <a:endParaRPr lang="en-US" sz="1100" b="1" dirty="0">
              <a:solidFill>
                <a:srgbClr val="065A82"/>
              </a:solidFill>
              <a:latin typeface="Calibri"/>
            </a:endParaRPr>
          </a:p>
          <a:p>
            <a:r>
              <a:rPr lang="en-US" sz="1100" b="1" dirty="0">
                <a:solidFill>
                  <a:srgbClr val="065A82"/>
                </a:solidFill>
                <a:latin typeface="Calibri"/>
              </a:rPr>
              <a:t>DEWP</a:t>
            </a:r>
            <a:r>
              <a:rPr lang="en-US" sz="1100" b="1" dirty="0">
                <a:solidFill>
                  <a:srgbClr val="1E293B"/>
                </a:solidFill>
                <a:latin typeface="Calibri"/>
              </a:rPr>
              <a:t>:</a:t>
            </a:r>
            <a:r>
              <a:rPr lang="en-US" sz="1100" dirty="0">
                <a:solidFill>
                  <a:srgbClr val="1E293B"/>
                </a:solidFill>
                <a:latin typeface="Calibri"/>
              </a:rPr>
              <a:t>  Dew point temperature in °C. The temperature at which air becomes saturated with moisture. Highly correlated with TEMP (r = 0.82).</a:t>
            </a:r>
          </a:p>
          <a:p>
            <a:endParaRPr lang="en-US" sz="400" dirty="0"/>
          </a:p>
          <a:p>
            <a:endParaRPr lang="en-US" sz="1100" b="1" dirty="0">
              <a:solidFill>
                <a:srgbClr val="065A82"/>
              </a:solidFill>
              <a:latin typeface="Calibri"/>
            </a:endParaRPr>
          </a:p>
          <a:p>
            <a:r>
              <a:rPr lang="en-US" sz="1100" b="1" dirty="0">
                <a:solidFill>
                  <a:srgbClr val="065A82"/>
                </a:solidFill>
                <a:latin typeface="Calibri"/>
              </a:rPr>
              <a:t>RAIN</a:t>
            </a:r>
            <a:r>
              <a:rPr lang="en-US" sz="1100" b="1" dirty="0">
                <a:solidFill>
                  <a:srgbClr val="1E293B"/>
                </a:solidFill>
                <a:latin typeface="Calibri"/>
              </a:rPr>
              <a:t>:</a:t>
            </a:r>
            <a:r>
              <a:rPr lang="en-US" sz="1100" dirty="0">
                <a:solidFill>
                  <a:srgbClr val="1E293B"/>
                </a:solidFill>
                <a:latin typeface="Calibri"/>
              </a:rPr>
              <a:t>  Hourly precipitation in mm. Rain washes particulates out of the air. Most hours record 0 mm; extreme events are rare.</a:t>
            </a:r>
          </a:p>
          <a:p>
            <a:endParaRPr lang="en-US" sz="400" dirty="0"/>
          </a:p>
          <a:p>
            <a:endParaRPr lang="en-US" sz="1100" b="1" dirty="0">
              <a:solidFill>
                <a:srgbClr val="065A82"/>
              </a:solidFill>
              <a:latin typeface="Calibri"/>
            </a:endParaRPr>
          </a:p>
          <a:p>
            <a:r>
              <a:rPr lang="en-US" sz="1100" b="1" dirty="0">
                <a:solidFill>
                  <a:srgbClr val="065A82"/>
                </a:solidFill>
                <a:latin typeface="Calibri"/>
              </a:rPr>
              <a:t>WSPM</a:t>
            </a:r>
            <a:r>
              <a:rPr lang="en-US" sz="1100" b="1" dirty="0">
                <a:solidFill>
                  <a:srgbClr val="1E293B"/>
                </a:solidFill>
                <a:latin typeface="Calibri"/>
              </a:rPr>
              <a:t>:</a:t>
            </a:r>
            <a:r>
              <a:rPr lang="en-US" sz="1100" dirty="0">
                <a:solidFill>
                  <a:srgbClr val="1E293B"/>
                </a:solidFill>
                <a:latin typeface="Calibri"/>
              </a:rPr>
              <a:t>  Wind speed in m/s. Higher wind disperses pollutants. Negatively correlated with PM2.5 (r = −0.27) as expected.</a:t>
            </a:r>
          </a:p>
          <a:p>
            <a:endParaRPr lang="en-US" sz="400" dirty="0"/>
          </a:p>
          <a:p>
            <a:endParaRPr lang="en-US" sz="1100" b="1" dirty="0">
              <a:solidFill>
                <a:srgbClr val="065A82"/>
              </a:solidFill>
              <a:latin typeface="Calibri"/>
            </a:endParaRPr>
          </a:p>
          <a:p>
            <a:r>
              <a:rPr lang="en-US" sz="1100" b="1" dirty="0">
                <a:solidFill>
                  <a:srgbClr val="065A82"/>
                </a:solidFill>
                <a:latin typeface="Calibri"/>
              </a:rPr>
              <a:t>WD</a:t>
            </a:r>
            <a:r>
              <a:rPr lang="en-US" sz="1100" b="1" dirty="0">
                <a:solidFill>
                  <a:srgbClr val="1E293B"/>
                </a:solidFill>
                <a:latin typeface="Calibri"/>
              </a:rPr>
              <a:t>:</a:t>
            </a:r>
            <a:r>
              <a:rPr lang="en-US" sz="1100" dirty="0">
                <a:solidFill>
                  <a:srgbClr val="1E293B"/>
                </a:solidFill>
                <a:latin typeface="Calibri"/>
              </a:rPr>
              <a:t>  Wind direction as a compass point (e.g. N, NE, SW). Categorical column; filled using forward/backward fill during cleaning.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65A82"/>
          </a:solidFill>
          <a:ln w="12700">
            <a:solidFill>
              <a:srgbClr val="065A82"/>
            </a:solidFill>
            <a:prstDash val="solid"/>
          </a:ln>
        </p:spPr>
      </p:sp>
      <p:sp>
        <p:nvSpPr>
          <p:cNvPr id="3" name="Shape 1"/>
          <p:cNvSpPr/>
          <p:nvPr/>
        </p:nvSpPr>
        <p:spPr>
          <a:xfrm>
            <a:off x="164592" y="0"/>
            <a:ext cx="8979408" cy="914400"/>
          </a:xfrm>
          <a:prstGeom prst="rect">
            <a:avLst/>
          </a:prstGeom>
          <a:solidFill>
            <a:srgbClr val="D6EAF8"/>
          </a:solidFill>
          <a:ln w="12700">
            <a:solidFill>
              <a:srgbClr val="D6EAF8"/>
            </a:solidFill>
            <a:prstDash val="solid"/>
          </a:ln>
        </p:spPr>
      </p:sp>
      <p:sp>
        <p:nvSpPr>
          <p:cNvPr id="4" name="Text 2"/>
          <p:cNvSpPr/>
          <p:nvPr/>
        </p:nvSpPr>
        <p:spPr>
          <a:xfrm>
            <a:off x="365760" y="0"/>
            <a:ext cx="8595360" cy="914400"/>
          </a:xfrm>
          <a:prstGeom prst="rect">
            <a:avLst/>
          </a:prstGeom>
          <a:noFill/>
          <a:ln/>
        </p:spPr>
        <p:txBody>
          <a:bodyPr wrap="square" lIns="0" tIns="0" rIns="0" bIns="0" rtlCol="0" anchor="ctr"/>
          <a:lstStyle/>
          <a:p>
            <a:pPr marL="0" indent="0">
              <a:buNone/>
            </a:pPr>
            <a:r>
              <a:rPr lang="en-US" sz="2600" b="1" dirty="0">
                <a:solidFill>
                  <a:srgbClr val="065A82"/>
                </a:solidFill>
                <a:latin typeface="Calibri" pitchFamily="34" charset="0"/>
                <a:ea typeface="Calibri" pitchFamily="34" charset="-122"/>
                <a:cs typeface="Calibri" pitchFamily="34" charset="-120"/>
              </a:rPr>
              <a:t>Task 2  ·  Data Cleaning</a:t>
            </a:r>
            <a:endParaRPr lang="en-US" sz="2600" dirty="0"/>
          </a:p>
        </p:txBody>
      </p:sp>
      <p:graphicFrame>
        <p:nvGraphicFramePr>
          <p:cNvPr id="5" name="Chart 0"/>
          <p:cNvGraphicFramePr/>
          <p:nvPr/>
        </p:nvGraphicFramePr>
        <p:xfrm>
          <a:off x="320040" y="1005840"/>
          <a:ext cx="45720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074920" y="1005840"/>
            <a:ext cx="3749040" cy="749808"/>
          </a:xfrm>
          <a:prstGeom prst="rect">
            <a:avLst/>
          </a:prstGeom>
          <a:solidFill>
            <a:srgbClr val="F0F7FF"/>
          </a:solidFill>
          <a:ln w="12700">
            <a:solidFill>
              <a:srgbClr val="D6EAF8"/>
            </a:solidFill>
            <a:prstDash val="solid"/>
          </a:ln>
          <a:effectLst>
            <a:outerShdw blurRad="101600" dist="38100" dir="8100000" algn="bl" rotWithShape="0">
              <a:srgbClr val="000000">
                <a:alpha val="12000"/>
              </a:srgbClr>
            </a:outerShdw>
          </a:effectLst>
        </p:spPr>
      </p:sp>
      <p:sp>
        <p:nvSpPr>
          <p:cNvPr id="7" name="Shape 4"/>
          <p:cNvSpPr/>
          <p:nvPr/>
        </p:nvSpPr>
        <p:spPr>
          <a:xfrm>
            <a:off x="5166360" y="1152144"/>
            <a:ext cx="384048" cy="384048"/>
          </a:xfrm>
          <a:prstGeom prst="ellipse">
            <a:avLst/>
          </a:prstGeom>
          <a:solidFill>
            <a:srgbClr val="065A82"/>
          </a:solidFill>
          <a:ln w="12700">
            <a:solidFill>
              <a:srgbClr val="065A82"/>
            </a:solidFill>
            <a:prstDash val="solid"/>
          </a:ln>
        </p:spPr>
      </p:sp>
      <p:sp>
        <p:nvSpPr>
          <p:cNvPr id="8" name="Text 5"/>
          <p:cNvSpPr/>
          <p:nvPr/>
        </p:nvSpPr>
        <p:spPr>
          <a:xfrm>
            <a:off x="5166360" y="115214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p:nvPr/>
        </p:nvSpPr>
        <p:spPr>
          <a:xfrm>
            <a:off x="5623560" y="1060704"/>
            <a:ext cx="3108960" cy="274320"/>
          </a:xfrm>
          <a:prstGeom prst="rect">
            <a:avLst/>
          </a:prstGeom>
          <a:noFill/>
          <a:ln/>
        </p:spPr>
        <p:txBody>
          <a:bodyPr wrap="square" lIns="0" tIns="0" rIns="0" bIns="0" rtlCol="0" anchor="ctr"/>
          <a:lstStyle/>
          <a:p>
            <a:pPr marL="0" indent="0">
              <a:buNone/>
            </a:pPr>
            <a:r>
              <a:rPr lang="en-US" sz="1100" b="1" dirty="0">
                <a:solidFill>
                  <a:srgbClr val="065A82"/>
                </a:solidFill>
                <a:latin typeface="Calibri" pitchFamily="34" charset="0"/>
                <a:ea typeface="Calibri" pitchFamily="34" charset="-122"/>
                <a:cs typeface="Calibri" pitchFamily="34" charset="-120"/>
              </a:rPr>
              <a:t>Identified Nulls</a:t>
            </a:r>
            <a:endParaRPr lang="en-US" sz="1100" dirty="0"/>
          </a:p>
        </p:txBody>
      </p:sp>
      <p:sp>
        <p:nvSpPr>
          <p:cNvPr id="10" name="Text 7"/>
          <p:cNvSpPr/>
          <p:nvPr/>
        </p:nvSpPr>
        <p:spPr>
          <a:xfrm>
            <a:off x="5623560" y="1353312"/>
            <a:ext cx="3108960" cy="32918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isnull().sum() revealed CO had 20,701 missing values (~4.9%), NO2 had 12,116</a:t>
            </a:r>
            <a:endParaRPr lang="en-US" sz="900" dirty="0"/>
          </a:p>
        </p:txBody>
      </p:sp>
      <p:sp>
        <p:nvSpPr>
          <p:cNvPr id="11" name="Shape 8"/>
          <p:cNvSpPr/>
          <p:nvPr/>
        </p:nvSpPr>
        <p:spPr>
          <a:xfrm>
            <a:off x="5074920" y="1828800"/>
            <a:ext cx="3749040" cy="749808"/>
          </a:xfrm>
          <a:prstGeom prst="rect">
            <a:avLst/>
          </a:prstGeom>
          <a:solidFill>
            <a:srgbClr val="F0F7FF"/>
          </a:solidFill>
          <a:ln w="12700">
            <a:solidFill>
              <a:srgbClr val="D6EAF8"/>
            </a:solidFill>
            <a:prstDash val="solid"/>
          </a:ln>
          <a:effectLst>
            <a:outerShdw blurRad="101600" dist="38100" dir="8100000" algn="bl" rotWithShape="0">
              <a:srgbClr val="000000">
                <a:alpha val="12000"/>
              </a:srgbClr>
            </a:outerShdw>
          </a:effectLst>
        </p:spPr>
      </p:sp>
      <p:sp>
        <p:nvSpPr>
          <p:cNvPr id="12" name="Shape 9"/>
          <p:cNvSpPr/>
          <p:nvPr/>
        </p:nvSpPr>
        <p:spPr>
          <a:xfrm>
            <a:off x="5166360" y="1975104"/>
            <a:ext cx="384048" cy="384048"/>
          </a:xfrm>
          <a:prstGeom prst="ellipse">
            <a:avLst/>
          </a:prstGeom>
          <a:solidFill>
            <a:srgbClr val="065A82"/>
          </a:solidFill>
          <a:ln w="12700">
            <a:solidFill>
              <a:srgbClr val="065A82"/>
            </a:solidFill>
            <a:prstDash val="solid"/>
          </a:ln>
        </p:spPr>
      </p:sp>
      <p:sp>
        <p:nvSpPr>
          <p:cNvPr id="13" name="Text 10"/>
          <p:cNvSpPr/>
          <p:nvPr/>
        </p:nvSpPr>
        <p:spPr>
          <a:xfrm>
            <a:off x="5166360" y="197510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1"/>
          <p:cNvSpPr/>
          <p:nvPr/>
        </p:nvSpPr>
        <p:spPr>
          <a:xfrm>
            <a:off x="5623560" y="1883664"/>
            <a:ext cx="3108960" cy="274320"/>
          </a:xfrm>
          <a:prstGeom prst="rect">
            <a:avLst/>
          </a:prstGeom>
          <a:noFill/>
          <a:ln/>
        </p:spPr>
        <p:txBody>
          <a:bodyPr wrap="square" lIns="0" tIns="0" rIns="0" bIns="0" rtlCol="0" anchor="ctr"/>
          <a:lstStyle/>
          <a:p>
            <a:pPr marL="0" indent="0">
              <a:buNone/>
            </a:pPr>
            <a:r>
              <a:rPr lang="en-US" sz="1100" b="1" dirty="0">
                <a:solidFill>
                  <a:srgbClr val="065A82"/>
                </a:solidFill>
                <a:latin typeface="Calibri" pitchFamily="34" charset="0"/>
                <a:ea typeface="Calibri" pitchFamily="34" charset="-122"/>
                <a:cs typeface="Calibri" pitchFamily="34" charset="-120"/>
              </a:rPr>
              <a:t>Linear Interpolation</a:t>
            </a:r>
            <a:endParaRPr lang="en-US" sz="1100" dirty="0"/>
          </a:p>
        </p:txBody>
      </p:sp>
      <p:sp>
        <p:nvSpPr>
          <p:cNvPr id="15" name="Text 12"/>
          <p:cNvSpPr/>
          <p:nvPr/>
        </p:nvSpPr>
        <p:spPr>
          <a:xfrm>
            <a:off x="5623560" y="2176272"/>
            <a:ext cx="3108960" cy="32918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Sorted by station + datetime, then interpolated within each station's own time series — estimates each gap from surrounding hourly readings</a:t>
            </a:r>
            <a:endParaRPr lang="en-US" sz="900" dirty="0"/>
          </a:p>
        </p:txBody>
      </p:sp>
      <p:sp>
        <p:nvSpPr>
          <p:cNvPr id="16" name="Shape 13"/>
          <p:cNvSpPr/>
          <p:nvPr/>
        </p:nvSpPr>
        <p:spPr>
          <a:xfrm>
            <a:off x="5074920" y="2651760"/>
            <a:ext cx="3749040" cy="749808"/>
          </a:xfrm>
          <a:prstGeom prst="rect">
            <a:avLst/>
          </a:prstGeom>
          <a:solidFill>
            <a:srgbClr val="F0F7FF"/>
          </a:solidFill>
          <a:ln w="12700">
            <a:solidFill>
              <a:srgbClr val="D6EAF8"/>
            </a:solidFill>
            <a:prstDash val="solid"/>
          </a:ln>
          <a:effectLst>
            <a:outerShdw blurRad="101600" dist="38100" dir="8100000" algn="bl" rotWithShape="0">
              <a:srgbClr val="000000">
                <a:alpha val="12000"/>
              </a:srgbClr>
            </a:outerShdw>
          </a:effectLst>
        </p:spPr>
      </p:sp>
      <p:sp>
        <p:nvSpPr>
          <p:cNvPr id="17" name="Shape 14"/>
          <p:cNvSpPr/>
          <p:nvPr/>
        </p:nvSpPr>
        <p:spPr>
          <a:xfrm>
            <a:off x="5166360" y="2798064"/>
            <a:ext cx="384048" cy="384048"/>
          </a:xfrm>
          <a:prstGeom prst="ellipse">
            <a:avLst/>
          </a:prstGeom>
          <a:solidFill>
            <a:srgbClr val="065A82"/>
          </a:solidFill>
          <a:ln w="12700">
            <a:solidFill>
              <a:srgbClr val="065A82"/>
            </a:solidFill>
            <a:prstDash val="solid"/>
          </a:ln>
        </p:spPr>
      </p:sp>
      <p:sp>
        <p:nvSpPr>
          <p:cNvPr id="18" name="Text 15"/>
          <p:cNvSpPr/>
          <p:nvPr/>
        </p:nvSpPr>
        <p:spPr>
          <a:xfrm>
            <a:off x="5166360" y="279806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p:nvPr/>
        </p:nvSpPr>
        <p:spPr>
          <a:xfrm>
            <a:off x="5623560" y="2706624"/>
            <a:ext cx="3108960" cy="274320"/>
          </a:xfrm>
          <a:prstGeom prst="rect">
            <a:avLst/>
          </a:prstGeom>
          <a:noFill/>
          <a:ln/>
        </p:spPr>
        <p:txBody>
          <a:bodyPr wrap="square" lIns="0" tIns="0" rIns="0" bIns="0" rtlCol="0" anchor="ctr"/>
          <a:lstStyle/>
          <a:p>
            <a:pPr marL="0" indent="0">
              <a:buNone/>
            </a:pPr>
            <a:r>
              <a:rPr lang="en-US" sz="1100" b="1" dirty="0">
                <a:solidFill>
                  <a:srgbClr val="065A82"/>
                </a:solidFill>
                <a:latin typeface="Calibri" pitchFamily="34" charset="0"/>
                <a:ea typeface="Calibri" pitchFamily="34" charset="-122"/>
                <a:cs typeface="Calibri" pitchFamily="34" charset="-120"/>
              </a:rPr>
              <a:t>Wind Direction (ffill/bfill)</a:t>
            </a:r>
            <a:endParaRPr lang="en-US" sz="1100" dirty="0"/>
          </a:p>
        </p:txBody>
      </p:sp>
      <p:sp>
        <p:nvSpPr>
          <p:cNvPr id="20" name="Text 17"/>
          <p:cNvSpPr/>
          <p:nvPr/>
        </p:nvSpPr>
        <p:spPr>
          <a:xfrm>
            <a:off x="5623560" y="2999232"/>
            <a:ext cx="3108960" cy="32918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Categorical 'wd' can't be interpolated — forward-filled then backward-filled per station</a:t>
            </a:r>
            <a:endParaRPr lang="en-US" sz="900" dirty="0"/>
          </a:p>
        </p:txBody>
      </p:sp>
      <p:sp>
        <p:nvSpPr>
          <p:cNvPr id="21" name="Shape 18"/>
          <p:cNvSpPr/>
          <p:nvPr/>
        </p:nvSpPr>
        <p:spPr>
          <a:xfrm>
            <a:off x="5074920" y="3474720"/>
            <a:ext cx="3749040" cy="749808"/>
          </a:xfrm>
          <a:prstGeom prst="rect">
            <a:avLst/>
          </a:prstGeom>
          <a:solidFill>
            <a:srgbClr val="F0F7FF"/>
          </a:solidFill>
          <a:ln w="12700">
            <a:solidFill>
              <a:srgbClr val="D6EAF8"/>
            </a:solidFill>
            <a:prstDash val="solid"/>
          </a:ln>
          <a:effectLst>
            <a:outerShdw blurRad="101600" dist="38100" dir="8100000" algn="bl" rotWithShape="0">
              <a:srgbClr val="000000">
                <a:alpha val="12000"/>
              </a:srgbClr>
            </a:outerShdw>
          </a:effectLst>
        </p:spPr>
      </p:sp>
      <p:sp>
        <p:nvSpPr>
          <p:cNvPr id="22" name="Shape 19"/>
          <p:cNvSpPr/>
          <p:nvPr/>
        </p:nvSpPr>
        <p:spPr>
          <a:xfrm>
            <a:off x="5166360" y="3621024"/>
            <a:ext cx="384048" cy="384048"/>
          </a:xfrm>
          <a:prstGeom prst="ellipse">
            <a:avLst/>
          </a:prstGeom>
          <a:solidFill>
            <a:srgbClr val="065A82"/>
          </a:solidFill>
          <a:ln w="12700">
            <a:solidFill>
              <a:srgbClr val="065A82"/>
            </a:solidFill>
            <a:prstDash val="solid"/>
          </a:ln>
        </p:spPr>
      </p:sp>
      <p:sp>
        <p:nvSpPr>
          <p:cNvPr id="23" name="Text 20"/>
          <p:cNvSpPr/>
          <p:nvPr/>
        </p:nvSpPr>
        <p:spPr>
          <a:xfrm>
            <a:off x="5166360" y="362102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1"/>
          <p:cNvSpPr/>
          <p:nvPr/>
        </p:nvSpPr>
        <p:spPr>
          <a:xfrm>
            <a:off x="5623560" y="3529584"/>
            <a:ext cx="3108960" cy="274320"/>
          </a:xfrm>
          <a:prstGeom prst="rect">
            <a:avLst/>
          </a:prstGeom>
          <a:noFill/>
          <a:ln/>
        </p:spPr>
        <p:txBody>
          <a:bodyPr wrap="square" lIns="0" tIns="0" rIns="0" bIns="0" rtlCol="0" anchor="ctr"/>
          <a:lstStyle/>
          <a:p>
            <a:pPr marL="0" indent="0">
              <a:buNone/>
            </a:pPr>
            <a:r>
              <a:rPr lang="en-US" sz="1100" b="1" dirty="0">
                <a:solidFill>
                  <a:srgbClr val="065A82"/>
                </a:solidFill>
                <a:latin typeface="Calibri" pitchFamily="34" charset="0"/>
                <a:ea typeface="Calibri" pitchFamily="34" charset="-122"/>
                <a:cs typeface="Calibri" pitchFamily="34" charset="-120"/>
              </a:rPr>
              <a:t>Dropped Edge Cases</a:t>
            </a:r>
            <a:endParaRPr lang="en-US" sz="1100" dirty="0"/>
          </a:p>
        </p:txBody>
      </p:sp>
      <p:sp>
        <p:nvSpPr>
          <p:cNvPr id="25" name="Text 22"/>
          <p:cNvSpPr/>
          <p:nvPr/>
        </p:nvSpPr>
        <p:spPr>
          <a:xfrm>
            <a:off x="5623560" y="3822192"/>
            <a:ext cx="3108960" cy="32918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dropna(subset=['PM2.5']) catches rare edge gaps at series start/end with no neighbours — 0 rows lost</a:t>
            </a:r>
            <a:endParaRPr lang="en-US" sz="900" dirty="0"/>
          </a:p>
        </p:txBody>
      </p:sp>
      <p:sp>
        <p:nvSpPr>
          <p:cNvPr id="26" name="Shape 23"/>
          <p:cNvSpPr/>
          <p:nvPr/>
        </p:nvSpPr>
        <p:spPr>
          <a:xfrm>
            <a:off x="5074920" y="4343400"/>
            <a:ext cx="3749040" cy="502920"/>
          </a:xfrm>
          <a:prstGeom prst="rect">
            <a:avLst/>
          </a:prstGeom>
          <a:solidFill>
            <a:srgbClr val="065A82"/>
          </a:solidFill>
          <a:ln w="12700">
            <a:solidFill>
              <a:srgbClr val="065A82"/>
            </a:solidFill>
            <a:prstDash val="solid"/>
          </a:ln>
        </p:spPr>
      </p:sp>
      <p:sp>
        <p:nvSpPr>
          <p:cNvPr id="27" name="Text 24"/>
          <p:cNvSpPr/>
          <p:nvPr/>
        </p:nvSpPr>
        <p:spPr>
          <a:xfrm>
            <a:off x="5166360" y="4343400"/>
            <a:ext cx="3566160" cy="50292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Why Interpolation? This is hourly time series data — pollution changes gradually. Interpolation respects the temporal pattern; median would inject the same global value regardless of time.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65A82"/>
          </a:solidFill>
          <a:ln w="12700">
            <a:solidFill>
              <a:srgbClr val="065A82"/>
            </a:solidFill>
            <a:prstDash val="solid"/>
          </a:ln>
        </p:spPr>
      </p:sp>
      <p:sp>
        <p:nvSpPr>
          <p:cNvPr id="3" name="Shape 1"/>
          <p:cNvSpPr/>
          <p:nvPr/>
        </p:nvSpPr>
        <p:spPr>
          <a:xfrm>
            <a:off x="164592" y="0"/>
            <a:ext cx="8979408" cy="914400"/>
          </a:xfrm>
          <a:prstGeom prst="rect">
            <a:avLst/>
          </a:prstGeom>
          <a:solidFill>
            <a:srgbClr val="D6EAF8"/>
          </a:solidFill>
          <a:ln w="12700">
            <a:solidFill>
              <a:srgbClr val="D6EAF8"/>
            </a:solidFill>
            <a:prstDash val="solid"/>
          </a:ln>
        </p:spPr>
      </p:sp>
      <p:sp>
        <p:nvSpPr>
          <p:cNvPr id="4" name="Text 2"/>
          <p:cNvSpPr/>
          <p:nvPr/>
        </p:nvSpPr>
        <p:spPr>
          <a:xfrm>
            <a:off x="365760" y="0"/>
            <a:ext cx="8595360" cy="914400"/>
          </a:xfrm>
          <a:prstGeom prst="rect">
            <a:avLst/>
          </a:prstGeom>
          <a:noFill/>
          <a:ln/>
        </p:spPr>
        <p:txBody>
          <a:bodyPr wrap="square" lIns="0" tIns="0" rIns="0" bIns="0" rtlCol="0" anchor="ctr"/>
          <a:lstStyle/>
          <a:p>
            <a:pPr marL="0" indent="0">
              <a:buNone/>
            </a:pPr>
            <a:r>
              <a:rPr lang="en-US" sz="2600" b="1" dirty="0">
                <a:solidFill>
                  <a:srgbClr val="065A82"/>
                </a:solidFill>
                <a:latin typeface="Calibri" pitchFamily="34" charset="0"/>
                <a:ea typeface="Calibri" pitchFamily="34" charset="-122"/>
                <a:cs typeface="Calibri" pitchFamily="34" charset="-120"/>
              </a:rPr>
              <a:t>Task 3  ·  Basic Statistical Analysis</a:t>
            </a:r>
            <a:endParaRPr lang="en-US" sz="2600" dirty="0"/>
          </a:p>
        </p:txBody>
      </p:sp>
      <p:sp>
        <p:nvSpPr>
          <p:cNvPr id="5" name="Shape 3"/>
          <p:cNvSpPr/>
          <p:nvPr/>
        </p:nvSpPr>
        <p:spPr>
          <a:xfrm>
            <a:off x="320040" y="1005840"/>
            <a:ext cx="1280160" cy="347472"/>
          </a:xfrm>
          <a:prstGeom prst="rect">
            <a:avLst/>
          </a:prstGeom>
          <a:solidFill>
            <a:srgbClr val="065A82"/>
          </a:solidFill>
          <a:ln w="12700">
            <a:solidFill>
              <a:srgbClr val="065A82"/>
            </a:solidFill>
            <a:prstDash val="solid"/>
          </a:ln>
        </p:spPr>
      </p:sp>
      <p:sp>
        <p:nvSpPr>
          <p:cNvPr id="6" name="Text 4"/>
          <p:cNvSpPr/>
          <p:nvPr/>
        </p:nvSpPr>
        <p:spPr>
          <a:xfrm>
            <a:off x="320040" y="1005840"/>
            <a:ext cx="12801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Pollutant</a:t>
            </a:r>
            <a:endParaRPr lang="en-US" sz="1100" dirty="0"/>
          </a:p>
        </p:txBody>
      </p:sp>
      <p:sp>
        <p:nvSpPr>
          <p:cNvPr id="7" name="Shape 5"/>
          <p:cNvSpPr/>
          <p:nvPr/>
        </p:nvSpPr>
        <p:spPr>
          <a:xfrm>
            <a:off x="1600200" y="1005840"/>
            <a:ext cx="1188720" cy="347472"/>
          </a:xfrm>
          <a:prstGeom prst="rect">
            <a:avLst/>
          </a:prstGeom>
          <a:solidFill>
            <a:srgbClr val="065A82"/>
          </a:solidFill>
          <a:ln w="12700">
            <a:solidFill>
              <a:srgbClr val="065A82"/>
            </a:solidFill>
            <a:prstDash val="solid"/>
          </a:ln>
        </p:spPr>
      </p:sp>
      <p:sp>
        <p:nvSpPr>
          <p:cNvPr id="8" name="Text 6"/>
          <p:cNvSpPr/>
          <p:nvPr/>
        </p:nvSpPr>
        <p:spPr>
          <a:xfrm>
            <a:off x="1600200" y="1005840"/>
            <a:ext cx="11887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Mean</a:t>
            </a:r>
            <a:endParaRPr lang="en-US" sz="1100" dirty="0"/>
          </a:p>
        </p:txBody>
      </p:sp>
      <p:sp>
        <p:nvSpPr>
          <p:cNvPr id="9" name="Shape 7"/>
          <p:cNvSpPr/>
          <p:nvPr/>
        </p:nvSpPr>
        <p:spPr>
          <a:xfrm>
            <a:off x="2788920" y="1005840"/>
            <a:ext cx="1188720" cy="347472"/>
          </a:xfrm>
          <a:prstGeom prst="rect">
            <a:avLst/>
          </a:prstGeom>
          <a:solidFill>
            <a:srgbClr val="065A82"/>
          </a:solidFill>
          <a:ln w="12700">
            <a:solidFill>
              <a:srgbClr val="065A82"/>
            </a:solidFill>
            <a:prstDash val="solid"/>
          </a:ln>
        </p:spPr>
      </p:sp>
      <p:sp>
        <p:nvSpPr>
          <p:cNvPr id="10" name="Text 8"/>
          <p:cNvSpPr/>
          <p:nvPr/>
        </p:nvSpPr>
        <p:spPr>
          <a:xfrm>
            <a:off x="2788920" y="1005840"/>
            <a:ext cx="11887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Median</a:t>
            </a:r>
            <a:endParaRPr lang="en-US" sz="1100" dirty="0"/>
          </a:p>
        </p:txBody>
      </p:sp>
      <p:sp>
        <p:nvSpPr>
          <p:cNvPr id="11" name="Shape 9"/>
          <p:cNvSpPr/>
          <p:nvPr/>
        </p:nvSpPr>
        <p:spPr>
          <a:xfrm>
            <a:off x="3977640" y="1005840"/>
            <a:ext cx="1005840" cy="347472"/>
          </a:xfrm>
          <a:prstGeom prst="rect">
            <a:avLst/>
          </a:prstGeom>
          <a:solidFill>
            <a:srgbClr val="065A82"/>
          </a:solidFill>
          <a:ln w="12700">
            <a:solidFill>
              <a:srgbClr val="065A82"/>
            </a:solidFill>
            <a:prstDash val="solid"/>
          </a:ln>
        </p:spPr>
      </p:sp>
      <p:sp>
        <p:nvSpPr>
          <p:cNvPr id="12" name="Text 10"/>
          <p:cNvSpPr/>
          <p:nvPr/>
        </p:nvSpPr>
        <p:spPr>
          <a:xfrm>
            <a:off x="3977640" y="1005840"/>
            <a:ext cx="10058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Min</a:t>
            </a:r>
            <a:endParaRPr lang="en-US" sz="1100" dirty="0"/>
          </a:p>
        </p:txBody>
      </p:sp>
      <p:sp>
        <p:nvSpPr>
          <p:cNvPr id="13" name="Shape 11"/>
          <p:cNvSpPr/>
          <p:nvPr/>
        </p:nvSpPr>
        <p:spPr>
          <a:xfrm>
            <a:off x="4983480" y="1005840"/>
            <a:ext cx="1097280" cy="347472"/>
          </a:xfrm>
          <a:prstGeom prst="rect">
            <a:avLst/>
          </a:prstGeom>
          <a:solidFill>
            <a:srgbClr val="065A82"/>
          </a:solidFill>
          <a:ln w="12700">
            <a:solidFill>
              <a:srgbClr val="065A82"/>
            </a:solidFill>
            <a:prstDash val="solid"/>
          </a:ln>
        </p:spPr>
      </p:sp>
      <p:sp>
        <p:nvSpPr>
          <p:cNvPr id="14" name="Text 12"/>
          <p:cNvSpPr/>
          <p:nvPr/>
        </p:nvSpPr>
        <p:spPr>
          <a:xfrm>
            <a:off x="4983480" y="1005840"/>
            <a:ext cx="109728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Max</a:t>
            </a:r>
            <a:endParaRPr lang="en-US" sz="1100" dirty="0"/>
          </a:p>
        </p:txBody>
      </p:sp>
      <p:sp>
        <p:nvSpPr>
          <p:cNvPr id="15" name="Shape 13"/>
          <p:cNvSpPr/>
          <p:nvPr/>
        </p:nvSpPr>
        <p:spPr>
          <a:xfrm>
            <a:off x="6080760" y="1005840"/>
            <a:ext cx="1188720" cy="347472"/>
          </a:xfrm>
          <a:prstGeom prst="rect">
            <a:avLst/>
          </a:prstGeom>
          <a:solidFill>
            <a:srgbClr val="065A82"/>
          </a:solidFill>
          <a:ln w="12700">
            <a:solidFill>
              <a:srgbClr val="065A82"/>
            </a:solidFill>
            <a:prstDash val="solid"/>
          </a:ln>
        </p:spPr>
      </p:sp>
      <p:sp>
        <p:nvSpPr>
          <p:cNvPr id="16" name="Text 14"/>
          <p:cNvSpPr/>
          <p:nvPr/>
        </p:nvSpPr>
        <p:spPr>
          <a:xfrm>
            <a:off x="6080760" y="1005840"/>
            <a:ext cx="11887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Std Dev</a:t>
            </a:r>
            <a:endParaRPr lang="en-US" sz="1100" dirty="0"/>
          </a:p>
        </p:txBody>
      </p:sp>
      <p:sp>
        <p:nvSpPr>
          <p:cNvPr id="17" name="Shape 15"/>
          <p:cNvSpPr/>
          <p:nvPr/>
        </p:nvSpPr>
        <p:spPr>
          <a:xfrm>
            <a:off x="320040" y="1353312"/>
            <a:ext cx="1280160" cy="347472"/>
          </a:xfrm>
          <a:prstGeom prst="rect">
            <a:avLst/>
          </a:prstGeom>
          <a:solidFill>
            <a:srgbClr val="D6EAF8"/>
          </a:solidFill>
          <a:ln w="12700">
            <a:solidFill>
              <a:srgbClr val="E2E8F0"/>
            </a:solidFill>
            <a:prstDash val="solid"/>
          </a:ln>
        </p:spPr>
      </p:sp>
      <p:sp>
        <p:nvSpPr>
          <p:cNvPr id="18" name="Text 16"/>
          <p:cNvSpPr/>
          <p:nvPr/>
        </p:nvSpPr>
        <p:spPr>
          <a:xfrm>
            <a:off x="320040" y="1353312"/>
            <a:ext cx="1280160" cy="347472"/>
          </a:xfrm>
          <a:prstGeom prst="rect">
            <a:avLst/>
          </a:prstGeom>
          <a:noFill/>
          <a:ln/>
        </p:spPr>
        <p:txBody>
          <a:bodyPr wrap="square" lIns="0" tIns="0" rIns="0" bIns="0"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PM2.5</a:t>
            </a:r>
            <a:endParaRPr lang="en-US" sz="1100" dirty="0"/>
          </a:p>
        </p:txBody>
      </p:sp>
      <p:sp>
        <p:nvSpPr>
          <p:cNvPr id="19" name="Shape 17"/>
          <p:cNvSpPr/>
          <p:nvPr/>
        </p:nvSpPr>
        <p:spPr>
          <a:xfrm>
            <a:off x="1600200" y="1353312"/>
            <a:ext cx="1188720" cy="347472"/>
          </a:xfrm>
          <a:prstGeom prst="rect">
            <a:avLst/>
          </a:prstGeom>
          <a:solidFill>
            <a:srgbClr val="D6EAF8"/>
          </a:solidFill>
          <a:ln w="12700">
            <a:solidFill>
              <a:srgbClr val="E2E8F0"/>
            </a:solidFill>
            <a:prstDash val="solid"/>
          </a:ln>
        </p:spPr>
      </p:sp>
      <p:sp>
        <p:nvSpPr>
          <p:cNvPr id="20" name="Text 18"/>
          <p:cNvSpPr/>
          <p:nvPr/>
        </p:nvSpPr>
        <p:spPr>
          <a:xfrm>
            <a:off x="1600200" y="1353312"/>
            <a:ext cx="118872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79.8</a:t>
            </a:r>
            <a:endParaRPr lang="en-US" sz="1100" dirty="0"/>
          </a:p>
        </p:txBody>
      </p:sp>
      <p:sp>
        <p:nvSpPr>
          <p:cNvPr id="21" name="Shape 19"/>
          <p:cNvSpPr/>
          <p:nvPr/>
        </p:nvSpPr>
        <p:spPr>
          <a:xfrm>
            <a:off x="2788920" y="1353312"/>
            <a:ext cx="1188720" cy="347472"/>
          </a:xfrm>
          <a:prstGeom prst="rect">
            <a:avLst/>
          </a:prstGeom>
          <a:solidFill>
            <a:srgbClr val="D6EAF8"/>
          </a:solidFill>
          <a:ln w="12700">
            <a:solidFill>
              <a:srgbClr val="E2E8F0"/>
            </a:solidFill>
            <a:prstDash val="solid"/>
          </a:ln>
        </p:spPr>
      </p:sp>
      <p:sp>
        <p:nvSpPr>
          <p:cNvPr id="22" name="Text 20"/>
          <p:cNvSpPr/>
          <p:nvPr/>
        </p:nvSpPr>
        <p:spPr>
          <a:xfrm>
            <a:off x="2788920" y="1353312"/>
            <a:ext cx="118872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55.0</a:t>
            </a:r>
            <a:endParaRPr lang="en-US" sz="1100" dirty="0"/>
          </a:p>
        </p:txBody>
      </p:sp>
      <p:sp>
        <p:nvSpPr>
          <p:cNvPr id="23" name="Shape 21"/>
          <p:cNvSpPr/>
          <p:nvPr/>
        </p:nvSpPr>
        <p:spPr>
          <a:xfrm>
            <a:off x="3977640" y="1353312"/>
            <a:ext cx="1005840" cy="347472"/>
          </a:xfrm>
          <a:prstGeom prst="rect">
            <a:avLst/>
          </a:prstGeom>
          <a:solidFill>
            <a:srgbClr val="D6EAF8"/>
          </a:solidFill>
          <a:ln w="12700">
            <a:solidFill>
              <a:srgbClr val="E2E8F0"/>
            </a:solidFill>
            <a:prstDash val="solid"/>
          </a:ln>
        </p:spPr>
      </p:sp>
      <p:sp>
        <p:nvSpPr>
          <p:cNvPr id="24" name="Text 22"/>
          <p:cNvSpPr/>
          <p:nvPr/>
        </p:nvSpPr>
        <p:spPr>
          <a:xfrm>
            <a:off x="3977640" y="1353312"/>
            <a:ext cx="100584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2.0</a:t>
            </a:r>
            <a:endParaRPr lang="en-US" sz="1100" dirty="0"/>
          </a:p>
        </p:txBody>
      </p:sp>
      <p:sp>
        <p:nvSpPr>
          <p:cNvPr id="25" name="Shape 23"/>
          <p:cNvSpPr/>
          <p:nvPr/>
        </p:nvSpPr>
        <p:spPr>
          <a:xfrm>
            <a:off x="4983480" y="1353312"/>
            <a:ext cx="1097280" cy="347472"/>
          </a:xfrm>
          <a:prstGeom prst="rect">
            <a:avLst/>
          </a:prstGeom>
          <a:solidFill>
            <a:srgbClr val="D6EAF8"/>
          </a:solidFill>
          <a:ln w="12700">
            <a:solidFill>
              <a:srgbClr val="E2E8F0"/>
            </a:solidFill>
            <a:prstDash val="solid"/>
          </a:ln>
        </p:spPr>
      </p:sp>
      <p:sp>
        <p:nvSpPr>
          <p:cNvPr id="26" name="Text 24"/>
          <p:cNvSpPr/>
          <p:nvPr/>
        </p:nvSpPr>
        <p:spPr>
          <a:xfrm>
            <a:off x="4983480" y="1353312"/>
            <a:ext cx="109728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999.0</a:t>
            </a:r>
            <a:endParaRPr lang="en-US" sz="1100" dirty="0"/>
          </a:p>
        </p:txBody>
      </p:sp>
      <p:sp>
        <p:nvSpPr>
          <p:cNvPr id="27" name="Shape 25"/>
          <p:cNvSpPr/>
          <p:nvPr/>
        </p:nvSpPr>
        <p:spPr>
          <a:xfrm>
            <a:off x="6080760" y="1353312"/>
            <a:ext cx="1188720" cy="347472"/>
          </a:xfrm>
          <a:prstGeom prst="rect">
            <a:avLst/>
          </a:prstGeom>
          <a:solidFill>
            <a:srgbClr val="D6EAF8"/>
          </a:solidFill>
          <a:ln w="12700">
            <a:solidFill>
              <a:srgbClr val="E2E8F0"/>
            </a:solidFill>
            <a:prstDash val="solid"/>
          </a:ln>
        </p:spPr>
      </p:sp>
      <p:sp>
        <p:nvSpPr>
          <p:cNvPr id="28" name="Text 26"/>
          <p:cNvSpPr/>
          <p:nvPr/>
        </p:nvSpPr>
        <p:spPr>
          <a:xfrm>
            <a:off x="6080760" y="1353312"/>
            <a:ext cx="118872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80.8</a:t>
            </a:r>
            <a:endParaRPr lang="en-US" sz="1100" dirty="0"/>
          </a:p>
        </p:txBody>
      </p:sp>
      <p:sp>
        <p:nvSpPr>
          <p:cNvPr id="29" name="Shape 27"/>
          <p:cNvSpPr/>
          <p:nvPr/>
        </p:nvSpPr>
        <p:spPr>
          <a:xfrm>
            <a:off x="320040" y="1719072"/>
            <a:ext cx="1280160" cy="347472"/>
          </a:xfrm>
          <a:prstGeom prst="rect">
            <a:avLst/>
          </a:prstGeom>
          <a:solidFill>
            <a:srgbClr val="FFFFFF"/>
          </a:solidFill>
          <a:ln w="12700">
            <a:solidFill>
              <a:srgbClr val="E2E8F0"/>
            </a:solidFill>
            <a:prstDash val="solid"/>
          </a:ln>
        </p:spPr>
      </p:sp>
      <p:sp>
        <p:nvSpPr>
          <p:cNvPr id="30" name="Text 28"/>
          <p:cNvSpPr/>
          <p:nvPr/>
        </p:nvSpPr>
        <p:spPr>
          <a:xfrm>
            <a:off x="320040" y="1719072"/>
            <a:ext cx="1280160" cy="347472"/>
          </a:xfrm>
          <a:prstGeom prst="rect">
            <a:avLst/>
          </a:prstGeom>
          <a:noFill/>
          <a:ln/>
        </p:spPr>
        <p:txBody>
          <a:bodyPr wrap="square" lIns="0" tIns="0" rIns="0" bIns="0"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PM10</a:t>
            </a:r>
            <a:endParaRPr lang="en-US" sz="1100" dirty="0"/>
          </a:p>
        </p:txBody>
      </p:sp>
      <p:sp>
        <p:nvSpPr>
          <p:cNvPr id="31" name="Shape 29"/>
          <p:cNvSpPr/>
          <p:nvPr/>
        </p:nvSpPr>
        <p:spPr>
          <a:xfrm>
            <a:off x="1600200" y="1719072"/>
            <a:ext cx="1188720" cy="347472"/>
          </a:xfrm>
          <a:prstGeom prst="rect">
            <a:avLst/>
          </a:prstGeom>
          <a:solidFill>
            <a:srgbClr val="FFFFFF"/>
          </a:solidFill>
          <a:ln w="12700">
            <a:solidFill>
              <a:srgbClr val="E2E8F0"/>
            </a:solidFill>
            <a:prstDash val="solid"/>
          </a:ln>
        </p:spPr>
      </p:sp>
      <p:sp>
        <p:nvSpPr>
          <p:cNvPr id="32" name="Text 30"/>
          <p:cNvSpPr/>
          <p:nvPr/>
        </p:nvSpPr>
        <p:spPr>
          <a:xfrm>
            <a:off x="1600200" y="1719072"/>
            <a:ext cx="118872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104.6</a:t>
            </a:r>
            <a:endParaRPr lang="en-US" sz="1100" dirty="0"/>
          </a:p>
        </p:txBody>
      </p:sp>
      <p:sp>
        <p:nvSpPr>
          <p:cNvPr id="33" name="Shape 31"/>
          <p:cNvSpPr/>
          <p:nvPr/>
        </p:nvSpPr>
        <p:spPr>
          <a:xfrm>
            <a:off x="2788920" y="1719072"/>
            <a:ext cx="1188720" cy="347472"/>
          </a:xfrm>
          <a:prstGeom prst="rect">
            <a:avLst/>
          </a:prstGeom>
          <a:solidFill>
            <a:srgbClr val="FFFFFF"/>
          </a:solidFill>
          <a:ln w="12700">
            <a:solidFill>
              <a:srgbClr val="E2E8F0"/>
            </a:solidFill>
            <a:prstDash val="solid"/>
          </a:ln>
        </p:spPr>
      </p:sp>
      <p:sp>
        <p:nvSpPr>
          <p:cNvPr id="34" name="Text 32"/>
          <p:cNvSpPr/>
          <p:nvPr/>
        </p:nvSpPr>
        <p:spPr>
          <a:xfrm>
            <a:off x="2788920" y="1719072"/>
            <a:ext cx="118872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82.0</a:t>
            </a:r>
            <a:endParaRPr lang="en-US" sz="1100" dirty="0"/>
          </a:p>
        </p:txBody>
      </p:sp>
      <p:sp>
        <p:nvSpPr>
          <p:cNvPr id="35" name="Shape 33"/>
          <p:cNvSpPr/>
          <p:nvPr/>
        </p:nvSpPr>
        <p:spPr>
          <a:xfrm>
            <a:off x="3977640" y="1719072"/>
            <a:ext cx="1005840" cy="347472"/>
          </a:xfrm>
          <a:prstGeom prst="rect">
            <a:avLst/>
          </a:prstGeom>
          <a:solidFill>
            <a:srgbClr val="FFFFFF"/>
          </a:solidFill>
          <a:ln w="12700">
            <a:solidFill>
              <a:srgbClr val="E2E8F0"/>
            </a:solidFill>
            <a:prstDash val="solid"/>
          </a:ln>
        </p:spPr>
      </p:sp>
      <p:sp>
        <p:nvSpPr>
          <p:cNvPr id="36" name="Text 34"/>
          <p:cNvSpPr/>
          <p:nvPr/>
        </p:nvSpPr>
        <p:spPr>
          <a:xfrm>
            <a:off x="3977640" y="1719072"/>
            <a:ext cx="100584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2.0</a:t>
            </a:r>
            <a:endParaRPr lang="en-US" sz="1100" dirty="0"/>
          </a:p>
        </p:txBody>
      </p:sp>
      <p:sp>
        <p:nvSpPr>
          <p:cNvPr id="37" name="Shape 35"/>
          <p:cNvSpPr/>
          <p:nvPr/>
        </p:nvSpPr>
        <p:spPr>
          <a:xfrm>
            <a:off x="4983480" y="1719072"/>
            <a:ext cx="1097280" cy="347472"/>
          </a:xfrm>
          <a:prstGeom prst="rect">
            <a:avLst/>
          </a:prstGeom>
          <a:solidFill>
            <a:srgbClr val="FFFFFF"/>
          </a:solidFill>
          <a:ln w="12700">
            <a:solidFill>
              <a:srgbClr val="E2E8F0"/>
            </a:solidFill>
            <a:prstDash val="solid"/>
          </a:ln>
        </p:spPr>
      </p:sp>
      <p:sp>
        <p:nvSpPr>
          <p:cNvPr id="38" name="Text 36"/>
          <p:cNvSpPr/>
          <p:nvPr/>
        </p:nvSpPr>
        <p:spPr>
          <a:xfrm>
            <a:off x="4983480" y="1719072"/>
            <a:ext cx="109728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999.0</a:t>
            </a:r>
            <a:endParaRPr lang="en-US" sz="1100" dirty="0"/>
          </a:p>
        </p:txBody>
      </p:sp>
      <p:sp>
        <p:nvSpPr>
          <p:cNvPr id="39" name="Shape 37"/>
          <p:cNvSpPr/>
          <p:nvPr/>
        </p:nvSpPr>
        <p:spPr>
          <a:xfrm>
            <a:off x="6080760" y="1719072"/>
            <a:ext cx="1188720" cy="347472"/>
          </a:xfrm>
          <a:prstGeom prst="rect">
            <a:avLst/>
          </a:prstGeom>
          <a:solidFill>
            <a:srgbClr val="FFFFFF"/>
          </a:solidFill>
          <a:ln w="12700">
            <a:solidFill>
              <a:srgbClr val="E2E8F0"/>
            </a:solidFill>
            <a:prstDash val="solid"/>
          </a:ln>
        </p:spPr>
      </p:sp>
      <p:sp>
        <p:nvSpPr>
          <p:cNvPr id="40" name="Text 38"/>
          <p:cNvSpPr/>
          <p:nvPr/>
        </p:nvSpPr>
        <p:spPr>
          <a:xfrm>
            <a:off x="6080760" y="1719072"/>
            <a:ext cx="118872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91.8</a:t>
            </a:r>
            <a:endParaRPr lang="en-US" sz="1100" dirty="0"/>
          </a:p>
        </p:txBody>
      </p:sp>
      <p:sp>
        <p:nvSpPr>
          <p:cNvPr id="41" name="Shape 39"/>
          <p:cNvSpPr/>
          <p:nvPr/>
        </p:nvSpPr>
        <p:spPr>
          <a:xfrm>
            <a:off x="320040" y="2084832"/>
            <a:ext cx="1280160" cy="347472"/>
          </a:xfrm>
          <a:prstGeom prst="rect">
            <a:avLst/>
          </a:prstGeom>
          <a:solidFill>
            <a:srgbClr val="D6EAF8"/>
          </a:solidFill>
          <a:ln w="12700">
            <a:solidFill>
              <a:srgbClr val="E2E8F0"/>
            </a:solidFill>
            <a:prstDash val="solid"/>
          </a:ln>
        </p:spPr>
      </p:sp>
      <p:sp>
        <p:nvSpPr>
          <p:cNvPr id="42" name="Text 40"/>
          <p:cNvSpPr/>
          <p:nvPr/>
        </p:nvSpPr>
        <p:spPr>
          <a:xfrm>
            <a:off x="320040" y="2084832"/>
            <a:ext cx="1280160" cy="347472"/>
          </a:xfrm>
          <a:prstGeom prst="rect">
            <a:avLst/>
          </a:prstGeom>
          <a:noFill/>
          <a:ln/>
        </p:spPr>
        <p:txBody>
          <a:bodyPr wrap="square" lIns="0" tIns="0" rIns="0" bIns="0"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SO2</a:t>
            </a:r>
            <a:endParaRPr lang="en-US" sz="1100" dirty="0"/>
          </a:p>
        </p:txBody>
      </p:sp>
      <p:sp>
        <p:nvSpPr>
          <p:cNvPr id="43" name="Shape 41"/>
          <p:cNvSpPr/>
          <p:nvPr/>
        </p:nvSpPr>
        <p:spPr>
          <a:xfrm>
            <a:off x="1600200" y="2084832"/>
            <a:ext cx="1188720" cy="347472"/>
          </a:xfrm>
          <a:prstGeom prst="rect">
            <a:avLst/>
          </a:prstGeom>
          <a:solidFill>
            <a:srgbClr val="D6EAF8"/>
          </a:solidFill>
          <a:ln w="12700">
            <a:solidFill>
              <a:srgbClr val="E2E8F0"/>
            </a:solidFill>
            <a:prstDash val="solid"/>
          </a:ln>
        </p:spPr>
      </p:sp>
      <p:sp>
        <p:nvSpPr>
          <p:cNvPr id="44" name="Text 42"/>
          <p:cNvSpPr/>
          <p:nvPr/>
        </p:nvSpPr>
        <p:spPr>
          <a:xfrm>
            <a:off x="1600200" y="2084832"/>
            <a:ext cx="118872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19.1</a:t>
            </a:r>
            <a:endParaRPr lang="en-US" sz="1100" dirty="0"/>
          </a:p>
        </p:txBody>
      </p:sp>
      <p:sp>
        <p:nvSpPr>
          <p:cNvPr id="45" name="Shape 43"/>
          <p:cNvSpPr/>
          <p:nvPr/>
        </p:nvSpPr>
        <p:spPr>
          <a:xfrm>
            <a:off x="2788920" y="2084832"/>
            <a:ext cx="1188720" cy="347472"/>
          </a:xfrm>
          <a:prstGeom prst="rect">
            <a:avLst/>
          </a:prstGeom>
          <a:solidFill>
            <a:srgbClr val="D6EAF8"/>
          </a:solidFill>
          <a:ln w="12700">
            <a:solidFill>
              <a:srgbClr val="E2E8F0"/>
            </a:solidFill>
            <a:prstDash val="solid"/>
          </a:ln>
        </p:spPr>
      </p:sp>
      <p:sp>
        <p:nvSpPr>
          <p:cNvPr id="46" name="Text 44"/>
          <p:cNvSpPr/>
          <p:nvPr/>
        </p:nvSpPr>
        <p:spPr>
          <a:xfrm>
            <a:off x="2788920" y="2084832"/>
            <a:ext cx="118872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10.0</a:t>
            </a:r>
            <a:endParaRPr lang="en-US" sz="1100" dirty="0"/>
          </a:p>
        </p:txBody>
      </p:sp>
      <p:sp>
        <p:nvSpPr>
          <p:cNvPr id="47" name="Shape 45"/>
          <p:cNvSpPr/>
          <p:nvPr/>
        </p:nvSpPr>
        <p:spPr>
          <a:xfrm>
            <a:off x="3977640" y="2084832"/>
            <a:ext cx="1005840" cy="347472"/>
          </a:xfrm>
          <a:prstGeom prst="rect">
            <a:avLst/>
          </a:prstGeom>
          <a:solidFill>
            <a:srgbClr val="D6EAF8"/>
          </a:solidFill>
          <a:ln w="12700">
            <a:solidFill>
              <a:srgbClr val="E2E8F0"/>
            </a:solidFill>
            <a:prstDash val="solid"/>
          </a:ln>
        </p:spPr>
      </p:sp>
      <p:sp>
        <p:nvSpPr>
          <p:cNvPr id="48" name="Text 46"/>
          <p:cNvSpPr/>
          <p:nvPr/>
        </p:nvSpPr>
        <p:spPr>
          <a:xfrm>
            <a:off x="3977640" y="2084832"/>
            <a:ext cx="100584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2.0</a:t>
            </a:r>
            <a:endParaRPr lang="en-US" sz="1100" dirty="0"/>
          </a:p>
        </p:txBody>
      </p:sp>
      <p:sp>
        <p:nvSpPr>
          <p:cNvPr id="49" name="Shape 47"/>
          <p:cNvSpPr/>
          <p:nvPr/>
        </p:nvSpPr>
        <p:spPr>
          <a:xfrm>
            <a:off x="4983480" y="2084832"/>
            <a:ext cx="1097280" cy="347472"/>
          </a:xfrm>
          <a:prstGeom prst="rect">
            <a:avLst/>
          </a:prstGeom>
          <a:solidFill>
            <a:srgbClr val="D6EAF8"/>
          </a:solidFill>
          <a:ln w="12700">
            <a:solidFill>
              <a:srgbClr val="E2E8F0"/>
            </a:solidFill>
            <a:prstDash val="solid"/>
          </a:ln>
        </p:spPr>
      </p:sp>
      <p:sp>
        <p:nvSpPr>
          <p:cNvPr id="50" name="Text 48"/>
          <p:cNvSpPr/>
          <p:nvPr/>
        </p:nvSpPr>
        <p:spPr>
          <a:xfrm>
            <a:off x="4983480" y="2084832"/>
            <a:ext cx="109728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494.8</a:t>
            </a:r>
            <a:endParaRPr lang="en-US" sz="1100" dirty="0"/>
          </a:p>
        </p:txBody>
      </p:sp>
      <p:sp>
        <p:nvSpPr>
          <p:cNvPr id="51" name="Shape 49"/>
          <p:cNvSpPr/>
          <p:nvPr/>
        </p:nvSpPr>
        <p:spPr>
          <a:xfrm>
            <a:off x="6080760" y="2084832"/>
            <a:ext cx="1188720" cy="347472"/>
          </a:xfrm>
          <a:prstGeom prst="rect">
            <a:avLst/>
          </a:prstGeom>
          <a:solidFill>
            <a:srgbClr val="D6EAF8"/>
          </a:solidFill>
          <a:ln w="12700">
            <a:solidFill>
              <a:srgbClr val="E2E8F0"/>
            </a:solidFill>
            <a:prstDash val="solid"/>
          </a:ln>
        </p:spPr>
      </p:sp>
      <p:sp>
        <p:nvSpPr>
          <p:cNvPr id="52" name="Text 50"/>
          <p:cNvSpPr/>
          <p:nvPr/>
        </p:nvSpPr>
        <p:spPr>
          <a:xfrm>
            <a:off x="6080760" y="2084832"/>
            <a:ext cx="118872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27.3</a:t>
            </a:r>
            <a:endParaRPr lang="en-US" sz="1100" dirty="0"/>
          </a:p>
        </p:txBody>
      </p:sp>
      <p:sp>
        <p:nvSpPr>
          <p:cNvPr id="53" name="Shape 51"/>
          <p:cNvSpPr/>
          <p:nvPr/>
        </p:nvSpPr>
        <p:spPr>
          <a:xfrm>
            <a:off x="320040" y="2450592"/>
            <a:ext cx="1280160" cy="347472"/>
          </a:xfrm>
          <a:prstGeom prst="rect">
            <a:avLst/>
          </a:prstGeom>
          <a:solidFill>
            <a:srgbClr val="FFFFFF"/>
          </a:solidFill>
          <a:ln w="12700">
            <a:solidFill>
              <a:srgbClr val="E2E8F0"/>
            </a:solidFill>
            <a:prstDash val="solid"/>
          </a:ln>
        </p:spPr>
      </p:sp>
      <p:sp>
        <p:nvSpPr>
          <p:cNvPr id="54" name="Text 52"/>
          <p:cNvSpPr/>
          <p:nvPr/>
        </p:nvSpPr>
        <p:spPr>
          <a:xfrm>
            <a:off x="320040" y="2450592"/>
            <a:ext cx="1280160" cy="347472"/>
          </a:xfrm>
          <a:prstGeom prst="rect">
            <a:avLst/>
          </a:prstGeom>
          <a:noFill/>
          <a:ln/>
        </p:spPr>
        <p:txBody>
          <a:bodyPr wrap="square" lIns="0" tIns="0" rIns="0" bIns="0"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NO2</a:t>
            </a:r>
            <a:endParaRPr lang="en-US" sz="1100" dirty="0"/>
          </a:p>
        </p:txBody>
      </p:sp>
      <p:sp>
        <p:nvSpPr>
          <p:cNvPr id="55" name="Shape 53"/>
          <p:cNvSpPr/>
          <p:nvPr/>
        </p:nvSpPr>
        <p:spPr>
          <a:xfrm>
            <a:off x="1600200" y="2450592"/>
            <a:ext cx="1188720" cy="347472"/>
          </a:xfrm>
          <a:prstGeom prst="rect">
            <a:avLst/>
          </a:prstGeom>
          <a:solidFill>
            <a:srgbClr val="FFFFFF"/>
          </a:solidFill>
          <a:ln w="12700">
            <a:solidFill>
              <a:srgbClr val="E2E8F0"/>
            </a:solidFill>
            <a:prstDash val="solid"/>
          </a:ln>
        </p:spPr>
      </p:sp>
      <p:sp>
        <p:nvSpPr>
          <p:cNvPr id="56" name="Text 54"/>
          <p:cNvSpPr/>
          <p:nvPr/>
        </p:nvSpPr>
        <p:spPr>
          <a:xfrm>
            <a:off x="1600200" y="2450592"/>
            <a:ext cx="118872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54.2</a:t>
            </a:r>
            <a:endParaRPr lang="en-US" sz="1100" dirty="0"/>
          </a:p>
        </p:txBody>
      </p:sp>
      <p:sp>
        <p:nvSpPr>
          <p:cNvPr id="57" name="Shape 55"/>
          <p:cNvSpPr/>
          <p:nvPr/>
        </p:nvSpPr>
        <p:spPr>
          <a:xfrm>
            <a:off x="2788920" y="2450592"/>
            <a:ext cx="1188720" cy="347472"/>
          </a:xfrm>
          <a:prstGeom prst="rect">
            <a:avLst/>
          </a:prstGeom>
          <a:solidFill>
            <a:srgbClr val="FFFFFF"/>
          </a:solidFill>
          <a:ln w="12700">
            <a:solidFill>
              <a:srgbClr val="E2E8F0"/>
            </a:solidFill>
            <a:prstDash val="solid"/>
          </a:ln>
        </p:spPr>
      </p:sp>
      <p:sp>
        <p:nvSpPr>
          <p:cNvPr id="58" name="Text 56"/>
          <p:cNvSpPr/>
          <p:nvPr/>
        </p:nvSpPr>
        <p:spPr>
          <a:xfrm>
            <a:off x="2788920" y="2450592"/>
            <a:ext cx="118872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47.0</a:t>
            </a:r>
            <a:endParaRPr lang="en-US" sz="1100" dirty="0"/>
          </a:p>
        </p:txBody>
      </p:sp>
      <p:sp>
        <p:nvSpPr>
          <p:cNvPr id="59" name="Shape 57"/>
          <p:cNvSpPr/>
          <p:nvPr/>
        </p:nvSpPr>
        <p:spPr>
          <a:xfrm>
            <a:off x="3977640" y="2450592"/>
            <a:ext cx="1005840" cy="347472"/>
          </a:xfrm>
          <a:prstGeom prst="rect">
            <a:avLst/>
          </a:prstGeom>
          <a:solidFill>
            <a:srgbClr val="FFFFFF"/>
          </a:solidFill>
          <a:ln w="12700">
            <a:solidFill>
              <a:srgbClr val="E2E8F0"/>
            </a:solidFill>
            <a:prstDash val="solid"/>
          </a:ln>
        </p:spPr>
      </p:sp>
      <p:sp>
        <p:nvSpPr>
          <p:cNvPr id="60" name="Text 58"/>
          <p:cNvSpPr/>
          <p:nvPr/>
        </p:nvSpPr>
        <p:spPr>
          <a:xfrm>
            <a:off x="3977640" y="2450592"/>
            <a:ext cx="100584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2.0</a:t>
            </a:r>
            <a:endParaRPr lang="en-US" sz="1100" dirty="0"/>
          </a:p>
        </p:txBody>
      </p:sp>
      <p:sp>
        <p:nvSpPr>
          <p:cNvPr id="61" name="Shape 59"/>
          <p:cNvSpPr/>
          <p:nvPr/>
        </p:nvSpPr>
        <p:spPr>
          <a:xfrm>
            <a:off x="4983480" y="2450592"/>
            <a:ext cx="1097280" cy="347472"/>
          </a:xfrm>
          <a:prstGeom prst="rect">
            <a:avLst/>
          </a:prstGeom>
          <a:solidFill>
            <a:srgbClr val="FFFFFF"/>
          </a:solidFill>
          <a:ln w="12700">
            <a:solidFill>
              <a:srgbClr val="E2E8F0"/>
            </a:solidFill>
            <a:prstDash val="solid"/>
          </a:ln>
        </p:spPr>
      </p:sp>
      <p:sp>
        <p:nvSpPr>
          <p:cNvPr id="62" name="Text 60"/>
          <p:cNvSpPr/>
          <p:nvPr/>
        </p:nvSpPr>
        <p:spPr>
          <a:xfrm>
            <a:off x="4983480" y="2450592"/>
            <a:ext cx="109728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294.0</a:t>
            </a:r>
            <a:endParaRPr lang="en-US" sz="1100" dirty="0"/>
          </a:p>
        </p:txBody>
      </p:sp>
      <p:sp>
        <p:nvSpPr>
          <p:cNvPr id="63" name="Shape 61"/>
          <p:cNvSpPr/>
          <p:nvPr/>
        </p:nvSpPr>
        <p:spPr>
          <a:xfrm>
            <a:off x="6080760" y="2450592"/>
            <a:ext cx="1188720" cy="347472"/>
          </a:xfrm>
          <a:prstGeom prst="rect">
            <a:avLst/>
          </a:prstGeom>
          <a:solidFill>
            <a:srgbClr val="FFFFFF"/>
          </a:solidFill>
          <a:ln w="12700">
            <a:solidFill>
              <a:srgbClr val="E2E8F0"/>
            </a:solidFill>
            <a:prstDash val="solid"/>
          </a:ln>
        </p:spPr>
      </p:sp>
      <p:sp>
        <p:nvSpPr>
          <p:cNvPr id="64" name="Text 62"/>
          <p:cNvSpPr/>
          <p:nvPr/>
        </p:nvSpPr>
        <p:spPr>
          <a:xfrm>
            <a:off x="6080760" y="2450592"/>
            <a:ext cx="118872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35.5</a:t>
            </a:r>
            <a:endParaRPr lang="en-US" sz="1100" dirty="0"/>
          </a:p>
        </p:txBody>
      </p:sp>
      <p:sp>
        <p:nvSpPr>
          <p:cNvPr id="65" name="Shape 63"/>
          <p:cNvSpPr/>
          <p:nvPr/>
        </p:nvSpPr>
        <p:spPr>
          <a:xfrm>
            <a:off x="320040" y="2816352"/>
            <a:ext cx="1280160" cy="347472"/>
          </a:xfrm>
          <a:prstGeom prst="rect">
            <a:avLst/>
          </a:prstGeom>
          <a:solidFill>
            <a:srgbClr val="D6EAF8"/>
          </a:solidFill>
          <a:ln w="12700">
            <a:solidFill>
              <a:srgbClr val="E2E8F0"/>
            </a:solidFill>
            <a:prstDash val="solid"/>
          </a:ln>
        </p:spPr>
      </p:sp>
      <p:sp>
        <p:nvSpPr>
          <p:cNvPr id="66" name="Text 64"/>
          <p:cNvSpPr/>
          <p:nvPr/>
        </p:nvSpPr>
        <p:spPr>
          <a:xfrm>
            <a:off x="320040" y="2816352"/>
            <a:ext cx="1280160" cy="347472"/>
          </a:xfrm>
          <a:prstGeom prst="rect">
            <a:avLst/>
          </a:prstGeom>
          <a:noFill/>
          <a:ln/>
        </p:spPr>
        <p:txBody>
          <a:bodyPr wrap="square" lIns="0" tIns="0" rIns="0" bIns="0"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CO</a:t>
            </a:r>
            <a:endParaRPr lang="en-US" sz="1100" dirty="0"/>
          </a:p>
        </p:txBody>
      </p:sp>
      <p:sp>
        <p:nvSpPr>
          <p:cNvPr id="67" name="Shape 65"/>
          <p:cNvSpPr/>
          <p:nvPr/>
        </p:nvSpPr>
        <p:spPr>
          <a:xfrm>
            <a:off x="1600200" y="2816352"/>
            <a:ext cx="1188720" cy="347472"/>
          </a:xfrm>
          <a:prstGeom prst="rect">
            <a:avLst/>
          </a:prstGeom>
          <a:solidFill>
            <a:srgbClr val="D6EAF8"/>
          </a:solidFill>
          <a:ln w="12700">
            <a:solidFill>
              <a:srgbClr val="E2E8F0"/>
            </a:solidFill>
            <a:prstDash val="solid"/>
          </a:ln>
        </p:spPr>
      </p:sp>
      <p:sp>
        <p:nvSpPr>
          <p:cNvPr id="68" name="Text 66"/>
          <p:cNvSpPr/>
          <p:nvPr/>
        </p:nvSpPr>
        <p:spPr>
          <a:xfrm>
            <a:off x="1600200" y="2816352"/>
            <a:ext cx="118872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1230.8</a:t>
            </a:r>
            <a:endParaRPr lang="en-US" sz="1100" dirty="0"/>
          </a:p>
        </p:txBody>
      </p:sp>
      <p:sp>
        <p:nvSpPr>
          <p:cNvPr id="69" name="Shape 67"/>
          <p:cNvSpPr/>
          <p:nvPr/>
        </p:nvSpPr>
        <p:spPr>
          <a:xfrm>
            <a:off x="2788920" y="2816352"/>
            <a:ext cx="1188720" cy="347472"/>
          </a:xfrm>
          <a:prstGeom prst="rect">
            <a:avLst/>
          </a:prstGeom>
          <a:solidFill>
            <a:srgbClr val="D6EAF8"/>
          </a:solidFill>
          <a:ln w="12700">
            <a:solidFill>
              <a:srgbClr val="E2E8F0"/>
            </a:solidFill>
            <a:prstDash val="solid"/>
          </a:ln>
        </p:spPr>
      </p:sp>
      <p:sp>
        <p:nvSpPr>
          <p:cNvPr id="70" name="Text 68"/>
          <p:cNvSpPr/>
          <p:nvPr/>
        </p:nvSpPr>
        <p:spPr>
          <a:xfrm>
            <a:off x="2788920" y="2816352"/>
            <a:ext cx="118872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900.0</a:t>
            </a:r>
            <a:endParaRPr lang="en-US" sz="1100" dirty="0"/>
          </a:p>
        </p:txBody>
      </p:sp>
      <p:sp>
        <p:nvSpPr>
          <p:cNvPr id="71" name="Shape 69"/>
          <p:cNvSpPr/>
          <p:nvPr/>
        </p:nvSpPr>
        <p:spPr>
          <a:xfrm>
            <a:off x="3977640" y="2816352"/>
            <a:ext cx="1005840" cy="347472"/>
          </a:xfrm>
          <a:prstGeom prst="rect">
            <a:avLst/>
          </a:prstGeom>
          <a:solidFill>
            <a:srgbClr val="D6EAF8"/>
          </a:solidFill>
          <a:ln w="12700">
            <a:solidFill>
              <a:srgbClr val="E2E8F0"/>
            </a:solidFill>
            <a:prstDash val="solid"/>
          </a:ln>
        </p:spPr>
      </p:sp>
      <p:sp>
        <p:nvSpPr>
          <p:cNvPr id="72" name="Text 70"/>
          <p:cNvSpPr/>
          <p:nvPr/>
        </p:nvSpPr>
        <p:spPr>
          <a:xfrm>
            <a:off x="3977640" y="2816352"/>
            <a:ext cx="100584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100.0</a:t>
            </a:r>
            <a:endParaRPr lang="en-US" sz="1100" dirty="0"/>
          </a:p>
        </p:txBody>
      </p:sp>
      <p:sp>
        <p:nvSpPr>
          <p:cNvPr id="73" name="Shape 71"/>
          <p:cNvSpPr/>
          <p:nvPr/>
        </p:nvSpPr>
        <p:spPr>
          <a:xfrm>
            <a:off x="4983480" y="2816352"/>
            <a:ext cx="1097280" cy="347472"/>
          </a:xfrm>
          <a:prstGeom prst="rect">
            <a:avLst/>
          </a:prstGeom>
          <a:solidFill>
            <a:srgbClr val="D6EAF8"/>
          </a:solidFill>
          <a:ln w="12700">
            <a:solidFill>
              <a:srgbClr val="E2E8F0"/>
            </a:solidFill>
            <a:prstDash val="solid"/>
          </a:ln>
        </p:spPr>
      </p:sp>
      <p:sp>
        <p:nvSpPr>
          <p:cNvPr id="74" name="Text 72"/>
          <p:cNvSpPr/>
          <p:nvPr/>
        </p:nvSpPr>
        <p:spPr>
          <a:xfrm>
            <a:off x="4983480" y="2816352"/>
            <a:ext cx="109728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10000.0</a:t>
            </a:r>
            <a:endParaRPr lang="en-US" sz="1100" dirty="0"/>
          </a:p>
        </p:txBody>
      </p:sp>
      <p:sp>
        <p:nvSpPr>
          <p:cNvPr id="75" name="Shape 73"/>
          <p:cNvSpPr/>
          <p:nvPr/>
        </p:nvSpPr>
        <p:spPr>
          <a:xfrm>
            <a:off x="6080760" y="2816352"/>
            <a:ext cx="1188720" cy="347472"/>
          </a:xfrm>
          <a:prstGeom prst="rect">
            <a:avLst/>
          </a:prstGeom>
          <a:solidFill>
            <a:srgbClr val="D6EAF8"/>
          </a:solidFill>
          <a:ln w="12700">
            <a:solidFill>
              <a:srgbClr val="E2E8F0"/>
            </a:solidFill>
            <a:prstDash val="solid"/>
          </a:ln>
        </p:spPr>
      </p:sp>
      <p:sp>
        <p:nvSpPr>
          <p:cNvPr id="76" name="Text 74"/>
          <p:cNvSpPr/>
          <p:nvPr/>
        </p:nvSpPr>
        <p:spPr>
          <a:xfrm>
            <a:off x="6080760" y="2816352"/>
            <a:ext cx="118872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1160.2</a:t>
            </a:r>
            <a:endParaRPr lang="en-US" sz="1100" dirty="0"/>
          </a:p>
        </p:txBody>
      </p:sp>
      <p:sp>
        <p:nvSpPr>
          <p:cNvPr id="77" name="Shape 75"/>
          <p:cNvSpPr/>
          <p:nvPr/>
        </p:nvSpPr>
        <p:spPr>
          <a:xfrm>
            <a:off x="320040" y="3182112"/>
            <a:ext cx="1280160" cy="347472"/>
          </a:xfrm>
          <a:prstGeom prst="rect">
            <a:avLst/>
          </a:prstGeom>
          <a:solidFill>
            <a:srgbClr val="FFFFFF"/>
          </a:solidFill>
          <a:ln w="12700">
            <a:solidFill>
              <a:srgbClr val="E2E8F0"/>
            </a:solidFill>
            <a:prstDash val="solid"/>
          </a:ln>
        </p:spPr>
      </p:sp>
      <p:sp>
        <p:nvSpPr>
          <p:cNvPr id="78" name="Text 76"/>
          <p:cNvSpPr/>
          <p:nvPr/>
        </p:nvSpPr>
        <p:spPr>
          <a:xfrm>
            <a:off x="320040" y="3182112"/>
            <a:ext cx="1280160" cy="347472"/>
          </a:xfrm>
          <a:prstGeom prst="rect">
            <a:avLst/>
          </a:prstGeom>
          <a:noFill/>
          <a:ln/>
        </p:spPr>
        <p:txBody>
          <a:bodyPr wrap="square" lIns="0" tIns="0" rIns="0" bIns="0"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O3</a:t>
            </a:r>
            <a:endParaRPr lang="en-US" sz="1100" dirty="0"/>
          </a:p>
        </p:txBody>
      </p:sp>
      <p:sp>
        <p:nvSpPr>
          <p:cNvPr id="79" name="Shape 77"/>
          <p:cNvSpPr/>
          <p:nvPr/>
        </p:nvSpPr>
        <p:spPr>
          <a:xfrm>
            <a:off x="1600200" y="3182112"/>
            <a:ext cx="1188720" cy="347472"/>
          </a:xfrm>
          <a:prstGeom prst="rect">
            <a:avLst/>
          </a:prstGeom>
          <a:solidFill>
            <a:srgbClr val="FFFFFF"/>
          </a:solidFill>
          <a:ln w="12700">
            <a:solidFill>
              <a:srgbClr val="E2E8F0"/>
            </a:solidFill>
            <a:prstDash val="solid"/>
          </a:ln>
        </p:spPr>
      </p:sp>
      <p:sp>
        <p:nvSpPr>
          <p:cNvPr id="80" name="Text 78"/>
          <p:cNvSpPr/>
          <p:nvPr/>
        </p:nvSpPr>
        <p:spPr>
          <a:xfrm>
            <a:off x="1600200" y="3182112"/>
            <a:ext cx="118872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57.4</a:t>
            </a:r>
            <a:endParaRPr lang="en-US" sz="1100" dirty="0"/>
          </a:p>
        </p:txBody>
      </p:sp>
      <p:sp>
        <p:nvSpPr>
          <p:cNvPr id="81" name="Shape 79"/>
          <p:cNvSpPr/>
          <p:nvPr/>
        </p:nvSpPr>
        <p:spPr>
          <a:xfrm>
            <a:off x="2788920" y="3182112"/>
            <a:ext cx="1188720" cy="347472"/>
          </a:xfrm>
          <a:prstGeom prst="rect">
            <a:avLst/>
          </a:prstGeom>
          <a:solidFill>
            <a:srgbClr val="FFFFFF"/>
          </a:solidFill>
          <a:ln w="12700">
            <a:solidFill>
              <a:srgbClr val="E2E8F0"/>
            </a:solidFill>
            <a:prstDash val="solid"/>
          </a:ln>
        </p:spPr>
      </p:sp>
      <p:sp>
        <p:nvSpPr>
          <p:cNvPr id="82" name="Text 80"/>
          <p:cNvSpPr/>
          <p:nvPr/>
        </p:nvSpPr>
        <p:spPr>
          <a:xfrm>
            <a:off x="2788920" y="3182112"/>
            <a:ext cx="118872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45.0</a:t>
            </a:r>
            <a:endParaRPr lang="en-US" sz="1100" dirty="0"/>
          </a:p>
        </p:txBody>
      </p:sp>
      <p:sp>
        <p:nvSpPr>
          <p:cNvPr id="83" name="Shape 81"/>
          <p:cNvSpPr/>
          <p:nvPr/>
        </p:nvSpPr>
        <p:spPr>
          <a:xfrm>
            <a:off x="3977640" y="3182112"/>
            <a:ext cx="1005840" cy="347472"/>
          </a:xfrm>
          <a:prstGeom prst="rect">
            <a:avLst/>
          </a:prstGeom>
          <a:solidFill>
            <a:srgbClr val="FFFFFF"/>
          </a:solidFill>
          <a:ln w="12700">
            <a:solidFill>
              <a:srgbClr val="E2E8F0"/>
            </a:solidFill>
            <a:prstDash val="solid"/>
          </a:ln>
        </p:spPr>
      </p:sp>
      <p:sp>
        <p:nvSpPr>
          <p:cNvPr id="84" name="Text 82"/>
          <p:cNvSpPr/>
          <p:nvPr/>
        </p:nvSpPr>
        <p:spPr>
          <a:xfrm>
            <a:off x="3977640" y="3182112"/>
            <a:ext cx="100584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0.2</a:t>
            </a:r>
            <a:endParaRPr lang="en-US" sz="1100" dirty="0"/>
          </a:p>
        </p:txBody>
      </p:sp>
      <p:sp>
        <p:nvSpPr>
          <p:cNvPr id="85" name="Shape 83"/>
          <p:cNvSpPr/>
          <p:nvPr/>
        </p:nvSpPr>
        <p:spPr>
          <a:xfrm>
            <a:off x="4983480" y="3182112"/>
            <a:ext cx="1097280" cy="347472"/>
          </a:xfrm>
          <a:prstGeom prst="rect">
            <a:avLst/>
          </a:prstGeom>
          <a:solidFill>
            <a:srgbClr val="FFFFFF"/>
          </a:solidFill>
          <a:ln w="12700">
            <a:solidFill>
              <a:srgbClr val="E2E8F0"/>
            </a:solidFill>
            <a:prstDash val="solid"/>
          </a:ln>
        </p:spPr>
      </p:sp>
      <p:sp>
        <p:nvSpPr>
          <p:cNvPr id="86" name="Text 84"/>
          <p:cNvSpPr/>
          <p:nvPr/>
        </p:nvSpPr>
        <p:spPr>
          <a:xfrm>
            <a:off x="4983480" y="3182112"/>
            <a:ext cx="109728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1071.0</a:t>
            </a:r>
            <a:endParaRPr lang="en-US" sz="1100" dirty="0"/>
          </a:p>
        </p:txBody>
      </p:sp>
      <p:sp>
        <p:nvSpPr>
          <p:cNvPr id="87" name="Shape 85"/>
          <p:cNvSpPr/>
          <p:nvPr/>
        </p:nvSpPr>
        <p:spPr>
          <a:xfrm>
            <a:off x="6080760" y="3182112"/>
            <a:ext cx="1188720" cy="347472"/>
          </a:xfrm>
          <a:prstGeom prst="rect">
            <a:avLst/>
          </a:prstGeom>
          <a:solidFill>
            <a:srgbClr val="FFFFFF"/>
          </a:solidFill>
          <a:ln w="12700">
            <a:solidFill>
              <a:srgbClr val="E2E8F0"/>
            </a:solidFill>
            <a:prstDash val="solid"/>
          </a:ln>
        </p:spPr>
      </p:sp>
      <p:sp>
        <p:nvSpPr>
          <p:cNvPr id="88" name="Text 86"/>
          <p:cNvSpPr/>
          <p:nvPr/>
        </p:nvSpPr>
        <p:spPr>
          <a:xfrm>
            <a:off x="6080760" y="3182112"/>
            <a:ext cx="1188720" cy="34747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56.7</a:t>
            </a:r>
            <a:endParaRPr lang="en-US" sz="1100" dirty="0"/>
          </a:p>
        </p:txBody>
      </p:sp>
      <p:sp>
        <p:nvSpPr>
          <p:cNvPr id="89" name="Shape 87"/>
          <p:cNvSpPr/>
          <p:nvPr/>
        </p:nvSpPr>
        <p:spPr>
          <a:xfrm>
            <a:off x="320040" y="3767328"/>
            <a:ext cx="2651760" cy="1097280"/>
          </a:xfrm>
          <a:prstGeom prst="rect">
            <a:avLst/>
          </a:prstGeom>
          <a:solidFill>
            <a:srgbClr val="021B2E"/>
          </a:solidFill>
          <a:ln w="12700">
            <a:solidFill>
              <a:srgbClr val="1C7293"/>
            </a:solidFill>
            <a:prstDash val="solid"/>
          </a:ln>
          <a:effectLst>
            <a:outerShdw blurRad="101600" dist="38100" dir="8100000" algn="bl" rotWithShape="0">
              <a:srgbClr val="000000">
                <a:alpha val="12000"/>
              </a:srgbClr>
            </a:outerShdw>
          </a:effectLst>
        </p:spPr>
      </p:sp>
      <p:sp>
        <p:nvSpPr>
          <p:cNvPr id="90" name="Text 88"/>
          <p:cNvSpPr/>
          <p:nvPr/>
        </p:nvSpPr>
        <p:spPr>
          <a:xfrm>
            <a:off x="320040" y="3822192"/>
            <a:ext cx="2651760" cy="457200"/>
          </a:xfrm>
          <a:prstGeom prst="rect">
            <a:avLst/>
          </a:prstGeom>
          <a:noFill/>
          <a:ln/>
        </p:spPr>
        <p:txBody>
          <a:bodyPr wrap="square" lIns="0" tIns="0" rIns="0" bIns="0" rtlCol="0" anchor="ctr"/>
          <a:lstStyle/>
          <a:p>
            <a:pPr marL="0" indent="0" algn="ctr">
              <a:buNone/>
            </a:pPr>
            <a:r>
              <a:rPr lang="en-US" sz="2200" b="1" dirty="0">
                <a:solidFill>
                  <a:srgbClr val="D6EAF8"/>
                </a:solidFill>
                <a:latin typeface="Calibri" pitchFamily="34" charset="0"/>
                <a:ea typeface="Calibri" pitchFamily="34" charset="-122"/>
                <a:cs typeface="Calibri" pitchFamily="34" charset="-120"/>
              </a:rPr>
              <a:t>79.8 µg/m³</a:t>
            </a:r>
            <a:endParaRPr lang="en-US" sz="2200" dirty="0"/>
          </a:p>
        </p:txBody>
      </p:sp>
      <p:sp>
        <p:nvSpPr>
          <p:cNvPr id="91" name="Text 89"/>
          <p:cNvSpPr/>
          <p:nvPr/>
        </p:nvSpPr>
        <p:spPr>
          <a:xfrm>
            <a:off x="320040" y="4279392"/>
            <a:ext cx="2651760" cy="256032"/>
          </a:xfrm>
          <a:prstGeom prst="rect">
            <a:avLst/>
          </a:prstGeom>
          <a:noFill/>
          <a:ln/>
        </p:spPr>
        <p:txBody>
          <a:bodyPr wrap="square" lIns="0" tIns="0" rIns="0" bIns="0" rtlCol="0" anchor="ctr"/>
          <a:lstStyle/>
          <a:p>
            <a:pPr marL="0" indent="0" algn="ctr">
              <a:buNone/>
            </a:pPr>
            <a:r>
              <a:rPr lang="en-US" sz="1000" b="1" dirty="0">
                <a:solidFill>
                  <a:srgbClr val="1C7293"/>
                </a:solidFill>
                <a:latin typeface="Calibri" pitchFamily="34" charset="0"/>
                <a:ea typeface="Calibri" pitchFamily="34" charset="-122"/>
                <a:cs typeface="Calibri" pitchFamily="34" charset="-120"/>
              </a:rPr>
              <a:t>PM2.5 Mean</a:t>
            </a:r>
            <a:endParaRPr lang="en-US" sz="1000" dirty="0"/>
          </a:p>
        </p:txBody>
      </p:sp>
      <p:sp>
        <p:nvSpPr>
          <p:cNvPr id="92" name="Text 90"/>
          <p:cNvSpPr/>
          <p:nvPr/>
        </p:nvSpPr>
        <p:spPr>
          <a:xfrm>
            <a:off x="320040" y="4535424"/>
            <a:ext cx="2651760" cy="256032"/>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 8× WHO guideline of 10</a:t>
            </a:r>
            <a:endParaRPr lang="en-US" sz="900" dirty="0"/>
          </a:p>
        </p:txBody>
      </p:sp>
      <p:sp>
        <p:nvSpPr>
          <p:cNvPr id="93" name="Shape 91"/>
          <p:cNvSpPr/>
          <p:nvPr/>
        </p:nvSpPr>
        <p:spPr>
          <a:xfrm>
            <a:off x="3200400" y="3767328"/>
            <a:ext cx="2651760" cy="1097280"/>
          </a:xfrm>
          <a:prstGeom prst="rect">
            <a:avLst/>
          </a:prstGeom>
          <a:solidFill>
            <a:srgbClr val="021B2E"/>
          </a:solidFill>
          <a:ln w="12700">
            <a:solidFill>
              <a:srgbClr val="1C7293"/>
            </a:solidFill>
            <a:prstDash val="solid"/>
          </a:ln>
          <a:effectLst>
            <a:outerShdw blurRad="101600" dist="38100" dir="8100000" algn="bl" rotWithShape="0">
              <a:srgbClr val="000000">
                <a:alpha val="12000"/>
              </a:srgbClr>
            </a:outerShdw>
          </a:effectLst>
        </p:spPr>
      </p:sp>
      <p:sp>
        <p:nvSpPr>
          <p:cNvPr id="94" name="Text 92"/>
          <p:cNvSpPr/>
          <p:nvPr/>
        </p:nvSpPr>
        <p:spPr>
          <a:xfrm>
            <a:off x="3200400" y="3822192"/>
            <a:ext cx="2651760" cy="457200"/>
          </a:xfrm>
          <a:prstGeom prst="rect">
            <a:avLst/>
          </a:prstGeom>
          <a:noFill/>
          <a:ln/>
        </p:spPr>
        <p:txBody>
          <a:bodyPr wrap="square" lIns="0" tIns="0" rIns="0" bIns="0" rtlCol="0" anchor="ctr"/>
          <a:lstStyle/>
          <a:p>
            <a:pPr marL="0" indent="0" algn="ctr">
              <a:buNone/>
            </a:pPr>
            <a:r>
              <a:rPr lang="en-US" sz="2200" b="1" dirty="0">
                <a:solidFill>
                  <a:srgbClr val="D6EAF8"/>
                </a:solidFill>
                <a:latin typeface="Calibri" pitchFamily="34" charset="0"/>
                <a:ea typeface="Calibri" pitchFamily="34" charset="-122"/>
                <a:cs typeface="Calibri" pitchFamily="34" charset="-120"/>
              </a:rPr>
              <a:t>999 µg/m³</a:t>
            </a:r>
            <a:endParaRPr lang="en-US" sz="2200" dirty="0"/>
          </a:p>
        </p:txBody>
      </p:sp>
      <p:sp>
        <p:nvSpPr>
          <p:cNvPr id="95" name="Text 93"/>
          <p:cNvSpPr/>
          <p:nvPr/>
        </p:nvSpPr>
        <p:spPr>
          <a:xfrm>
            <a:off x="3200400" y="4279392"/>
            <a:ext cx="2651760" cy="256032"/>
          </a:xfrm>
          <a:prstGeom prst="rect">
            <a:avLst/>
          </a:prstGeom>
          <a:noFill/>
          <a:ln/>
        </p:spPr>
        <p:txBody>
          <a:bodyPr wrap="square" lIns="0" tIns="0" rIns="0" bIns="0" rtlCol="0" anchor="ctr"/>
          <a:lstStyle/>
          <a:p>
            <a:pPr marL="0" indent="0" algn="ctr">
              <a:buNone/>
            </a:pPr>
            <a:r>
              <a:rPr lang="en-US" sz="1000" b="1" dirty="0">
                <a:solidFill>
                  <a:srgbClr val="1C7293"/>
                </a:solidFill>
                <a:latin typeface="Calibri" pitchFamily="34" charset="0"/>
                <a:ea typeface="Calibri" pitchFamily="34" charset="-122"/>
                <a:cs typeface="Calibri" pitchFamily="34" charset="-120"/>
              </a:rPr>
              <a:t>Max PM2.5</a:t>
            </a:r>
            <a:endParaRPr lang="en-US" sz="1000" dirty="0"/>
          </a:p>
        </p:txBody>
      </p:sp>
      <p:sp>
        <p:nvSpPr>
          <p:cNvPr id="96" name="Text 94"/>
          <p:cNvSpPr/>
          <p:nvPr/>
        </p:nvSpPr>
        <p:spPr>
          <a:xfrm>
            <a:off x="3200400" y="4535424"/>
            <a:ext cx="2651760" cy="256032"/>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Extreme pollution events</a:t>
            </a:r>
            <a:endParaRPr lang="en-US" sz="900" dirty="0"/>
          </a:p>
        </p:txBody>
      </p:sp>
      <p:sp>
        <p:nvSpPr>
          <p:cNvPr id="97" name="Shape 95"/>
          <p:cNvSpPr/>
          <p:nvPr/>
        </p:nvSpPr>
        <p:spPr>
          <a:xfrm>
            <a:off x="6080760" y="3767328"/>
            <a:ext cx="2651760" cy="1097280"/>
          </a:xfrm>
          <a:prstGeom prst="rect">
            <a:avLst/>
          </a:prstGeom>
          <a:solidFill>
            <a:srgbClr val="021B2E"/>
          </a:solidFill>
          <a:ln w="12700">
            <a:solidFill>
              <a:srgbClr val="1C7293"/>
            </a:solidFill>
            <a:prstDash val="solid"/>
          </a:ln>
          <a:effectLst>
            <a:outerShdw blurRad="101600" dist="38100" dir="8100000" algn="bl" rotWithShape="0">
              <a:srgbClr val="000000">
                <a:alpha val="12000"/>
              </a:srgbClr>
            </a:outerShdw>
          </a:effectLst>
        </p:spPr>
      </p:sp>
      <p:sp>
        <p:nvSpPr>
          <p:cNvPr id="98" name="Text 96"/>
          <p:cNvSpPr/>
          <p:nvPr/>
        </p:nvSpPr>
        <p:spPr>
          <a:xfrm>
            <a:off x="6080760" y="3822192"/>
            <a:ext cx="2651760" cy="457200"/>
          </a:xfrm>
          <a:prstGeom prst="rect">
            <a:avLst/>
          </a:prstGeom>
          <a:noFill/>
          <a:ln/>
        </p:spPr>
        <p:txBody>
          <a:bodyPr wrap="square" lIns="0" tIns="0" rIns="0" bIns="0" rtlCol="0" anchor="ctr"/>
          <a:lstStyle/>
          <a:p>
            <a:pPr marL="0" indent="0" algn="ctr">
              <a:buNone/>
            </a:pPr>
            <a:r>
              <a:rPr lang="en-US" sz="2200" b="1" dirty="0">
                <a:solidFill>
                  <a:srgbClr val="D6EAF8"/>
                </a:solidFill>
                <a:latin typeface="Calibri" pitchFamily="34" charset="0"/>
                <a:ea typeface="Calibri" pitchFamily="34" charset="-122"/>
                <a:cs typeface="Calibri" pitchFamily="34" charset="-120"/>
              </a:rPr>
              <a:t>1,160</a:t>
            </a:r>
            <a:endParaRPr lang="en-US" sz="2200" dirty="0"/>
          </a:p>
        </p:txBody>
      </p:sp>
      <p:sp>
        <p:nvSpPr>
          <p:cNvPr id="99" name="Text 97"/>
          <p:cNvSpPr/>
          <p:nvPr/>
        </p:nvSpPr>
        <p:spPr>
          <a:xfrm>
            <a:off x="6080760" y="4279392"/>
            <a:ext cx="2651760" cy="256032"/>
          </a:xfrm>
          <a:prstGeom prst="rect">
            <a:avLst/>
          </a:prstGeom>
          <a:noFill/>
          <a:ln/>
        </p:spPr>
        <p:txBody>
          <a:bodyPr wrap="square" lIns="0" tIns="0" rIns="0" bIns="0" rtlCol="0" anchor="ctr"/>
          <a:lstStyle/>
          <a:p>
            <a:pPr marL="0" indent="0" algn="ctr">
              <a:buNone/>
            </a:pPr>
            <a:r>
              <a:rPr lang="en-US" sz="1000" b="1" dirty="0">
                <a:solidFill>
                  <a:srgbClr val="1C7293"/>
                </a:solidFill>
                <a:latin typeface="Calibri" pitchFamily="34" charset="0"/>
                <a:ea typeface="Calibri" pitchFamily="34" charset="-122"/>
                <a:cs typeface="Calibri" pitchFamily="34" charset="-120"/>
              </a:rPr>
              <a:t>CO Std Dev</a:t>
            </a:r>
            <a:endParaRPr lang="en-US" sz="1000" dirty="0"/>
          </a:p>
        </p:txBody>
      </p:sp>
      <p:sp>
        <p:nvSpPr>
          <p:cNvPr id="100" name="Text 98"/>
          <p:cNvSpPr/>
          <p:nvPr/>
        </p:nvSpPr>
        <p:spPr>
          <a:xfrm>
            <a:off x="6080760" y="4535424"/>
            <a:ext cx="2651760" cy="256032"/>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High variability — traffic</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65A82"/>
          </a:solidFill>
          <a:ln w="12700">
            <a:solidFill>
              <a:srgbClr val="065A82"/>
            </a:solidFill>
            <a:prstDash val="solid"/>
          </a:ln>
        </p:spPr>
      </p:sp>
      <p:sp>
        <p:nvSpPr>
          <p:cNvPr id="3" name="Shape 1"/>
          <p:cNvSpPr/>
          <p:nvPr/>
        </p:nvSpPr>
        <p:spPr>
          <a:xfrm>
            <a:off x="164592" y="0"/>
            <a:ext cx="8979408" cy="914400"/>
          </a:xfrm>
          <a:prstGeom prst="rect">
            <a:avLst/>
          </a:prstGeom>
          <a:solidFill>
            <a:srgbClr val="D6EAF8"/>
          </a:solidFill>
          <a:ln w="12700">
            <a:solidFill>
              <a:srgbClr val="D6EAF8"/>
            </a:solidFill>
            <a:prstDash val="solid"/>
          </a:ln>
        </p:spPr>
      </p:sp>
      <p:sp>
        <p:nvSpPr>
          <p:cNvPr id="4" name="Text 2"/>
          <p:cNvSpPr/>
          <p:nvPr/>
        </p:nvSpPr>
        <p:spPr>
          <a:xfrm>
            <a:off x="365760" y="0"/>
            <a:ext cx="8595360" cy="914400"/>
          </a:xfrm>
          <a:prstGeom prst="rect">
            <a:avLst/>
          </a:prstGeom>
          <a:noFill/>
          <a:ln/>
        </p:spPr>
        <p:txBody>
          <a:bodyPr wrap="square" lIns="0" tIns="0" rIns="0" bIns="0" rtlCol="0" anchor="ctr"/>
          <a:lstStyle/>
          <a:p>
            <a:pPr marL="0" indent="0">
              <a:buNone/>
            </a:pPr>
            <a:r>
              <a:rPr lang="en-US" sz="2600" b="1" dirty="0">
                <a:solidFill>
                  <a:srgbClr val="065A82"/>
                </a:solidFill>
                <a:latin typeface="Calibri" pitchFamily="34" charset="0"/>
                <a:ea typeface="Calibri" pitchFamily="34" charset="-122"/>
                <a:cs typeface="Calibri" pitchFamily="34" charset="-120"/>
              </a:rPr>
              <a:t>Task 4  ·  Data Filtering</a:t>
            </a:r>
            <a:endParaRPr lang="en-US" sz="2600" dirty="0"/>
          </a:p>
        </p:txBody>
      </p:sp>
      <p:graphicFrame>
        <p:nvGraphicFramePr>
          <p:cNvPr id="5" name="Chart 0"/>
          <p:cNvGraphicFramePr/>
          <p:nvPr/>
        </p:nvGraphicFramePr>
        <p:xfrm>
          <a:off x="320040" y="1005840"/>
          <a:ext cx="548640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989320" y="1005840"/>
            <a:ext cx="2834640" cy="36576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Key Findings</a:t>
            </a:r>
            <a:endParaRPr lang="en-US" sz="1400" dirty="0"/>
          </a:p>
        </p:txBody>
      </p:sp>
      <p:sp>
        <p:nvSpPr>
          <p:cNvPr id="7" name="Shape 4"/>
          <p:cNvSpPr/>
          <p:nvPr/>
        </p:nvSpPr>
        <p:spPr>
          <a:xfrm>
            <a:off x="5989320" y="1463040"/>
            <a:ext cx="2834640" cy="749808"/>
          </a:xfrm>
          <a:prstGeom prst="rect">
            <a:avLst/>
          </a:prstGeom>
          <a:solidFill>
            <a:srgbClr val="021B2E"/>
          </a:solidFill>
          <a:ln w="12700">
            <a:solidFill>
              <a:srgbClr val="1C7293"/>
            </a:solidFill>
            <a:prstDash val="solid"/>
          </a:ln>
          <a:effectLst>
            <a:outerShdw blurRad="101600" dist="38100" dir="8100000" algn="bl" rotWithShape="0">
              <a:srgbClr val="000000">
                <a:alpha val="12000"/>
              </a:srgbClr>
            </a:outerShdw>
          </a:effectLst>
        </p:spPr>
      </p:sp>
      <p:sp>
        <p:nvSpPr>
          <p:cNvPr id="8" name="Text 5"/>
          <p:cNvSpPr/>
          <p:nvPr/>
        </p:nvSpPr>
        <p:spPr>
          <a:xfrm>
            <a:off x="6080760" y="1517904"/>
            <a:ext cx="2651760" cy="256032"/>
          </a:xfrm>
          <a:prstGeom prst="rect">
            <a:avLst/>
          </a:prstGeom>
          <a:noFill/>
          <a:ln/>
        </p:spPr>
        <p:txBody>
          <a:bodyPr wrap="square" lIns="0" tIns="0" rIns="0" bIns="0" rtlCol="0" anchor="ctr"/>
          <a:lstStyle/>
          <a:p>
            <a:pPr marL="0" indent="0">
              <a:buNone/>
            </a:pPr>
            <a:r>
              <a:rPr lang="en-US" sz="1100" b="1" dirty="0">
                <a:solidFill>
                  <a:srgbClr val="D6EAF8"/>
                </a:solidFill>
                <a:latin typeface="Calibri" pitchFamily="34" charset="0"/>
                <a:ea typeface="Calibri" pitchFamily="34" charset="-122"/>
                <a:cs typeface="Calibri" pitchFamily="34" charset="-120"/>
              </a:rPr>
              <a:t>Dongsi</a:t>
            </a:r>
            <a:endParaRPr lang="en-US" sz="1100" dirty="0"/>
          </a:p>
        </p:txBody>
      </p:sp>
      <p:sp>
        <p:nvSpPr>
          <p:cNvPr id="9" name="Text 6"/>
          <p:cNvSpPr/>
          <p:nvPr/>
        </p:nvSpPr>
        <p:spPr>
          <a:xfrm>
            <a:off x="6080760" y="1764792"/>
            <a:ext cx="1280160" cy="237744"/>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86.2 µg/m³</a:t>
            </a:r>
            <a:endParaRPr lang="en-US" sz="1300" dirty="0"/>
          </a:p>
        </p:txBody>
      </p:sp>
      <p:sp>
        <p:nvSpPr>
          <p:cNvPr id="10" name="Text 7"/>
          <p:cNvSpPr/>
          <p:nvPr/>
        </p:nvSpPr>
        <p:spPr>
          <a:xfrm>
            <a:off x="6080760" y="1956816"/>
            <a:ext cx="2651760" cy="20116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Most polluted — urban core</a:t>
            </a:r>
            <a:endParaRPr lang="en-US" sz="900" dirty="0"/>
          </a:p>
        </p:txBody>
      </p:sp>
      <p:sp>
        <p:nvSpPr>
          <p:cNvPr id="11" name="Shape 8"/>
          <p:cNvSpPr/>
          <p:nvPr/>
        </p:nvSpPr>
        <p:spPr>
          <a:xfrm>
            <a:off x="5989320" y="2304288"/>
            <a:ext cx="2834640" cy="749808"/>
          </a:xfrm>
          <a:prstGeom prst="rect">
            <a:avLst/>
          </a:prstGeom>
          <a:solidFill>
            <a:srgbClr val="021B2E"/>
          </a:solidFill>
          <a:ln w="12700">
            <a:solidFill>
              <a:srgbClr val="1C7293"/>
            </a:solidFill>
            <a:prstDash val="solid"/>
          </a:ln>
          <a:effectLst>
            <a:outerShdw blurRad="101600" dist="38100" dir="8100000" algn="bl" rotWithShape="0">
              <a:srgbClr val="000000">
                <a:alpha val="12000"/>
              </a:srgbClr>
            </a:outerShdw>
          </a:effectLst>
        </p:spPr>
      </p:sp>
      <p:sp>
        <p:nvSpPr>
          <p:cNvPr id="12" name="Text 9"/>
          <p:cNvSpPr/>
          <p:nvPr/>
        </p:nvSpPr>
        <p:spPr>
          <a:xfrm>
            <a:off x="6080760" y="2359152"/>
            <a:ext cx="2651760" cy="256032"/>
          </a:xfrm>
          <a:prstGeom prst="rect">
            <a:avLst/>
          </a:prstGeom>
          <a:noFill/>
          <a:ln/>
        </p:spPr>
        <p:txBody>
          <a:bodyPr wrap="square" lIns="0" tIns="0" rIns="0" bIns="0" rtlCol="0" anchor="ctr"/>
          <a:lstStyle/>
          <a:p>
            <a:pPr marL="0" indent="0">
              <a:buNone/>
            </a:pPr>
            <a:r>
              <a:rPr lang="en-US" sz="1100" b="1" dirty="0">
                <a:solidFill>
                  <a:srgbClr val="D6EAF8"/>
                </a:solidFill>
                <a:latin typeface="Calibri" pitchFamily="34" charset="0"/>
                <a:ea typeface="Calibri" pitchFamily="34" charset="-122"/>
                <a:cs typeface="Calibri" pitchFamily="34" charset="-120"/>
              </a:rPr>
              <a:t>Wanshouxigong</a:t>
            </a:r>
            <a:endParaRPr lang="en-US" sz="1100" dirty="0"/>
          </a:p>
        </p:txBody>
      </p:sp>
      <p:sp>
        <p:nvSpPr>
          <p:cNvPr id="13" name="Text 10"/>
          <p:cNvSpPr/>
          <p:nvPr/>
        </p:nvSpPr>
        <p:spPr>
          <a:xfrm>
            <a:off x="6080760" y="2606040"/>
            <a:ext cx="1280160" cy="237744"/>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85.0 µg/m³</a:t>
            </a:r>
            <a:endParaRPr lang="en-US" sz="1300" dirty="0"/>
          </a:p>
        </p:txBody>
      </p:sp>
      <p:sp>
        <p:nvSpPr>
          <p:cNvPr id="14" name="Text 11"/>
          <p:cNvSpPr/>
          <p:nvPr/>
        </p:nvSpPr>
        <p:spPr>
          <a:xfrm>
            <a:off x="6080760" y="2798064"/>
            <a:ext cx="2651760" cy="20116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2nd highest — central Beijing</a:t>
            </a:r>
            <a:endParaRPr lang="en-US" sz="900" dirty="0"/>
          </a:p>
        </p:txBody>
      </p:sp>
      <p:sp>
        <p:nvSpPr>
          <p:cNvPr id="15" name="Shape 12"/>
          <p:cNvSpPr/>
          <p:nvPr/>
        </p:nvSpPr>
        <p:spPr>
          <a:xfrm>
            <a:off x="5989320" y="3145536"/>
            <a:ext cx="2834640" cy="749808"/>
          </a:xfrm>
          <a:prstGeom prst="rect">
            <a:avLst/>
          </a:prstGeom>
          <a:solidFill>
            <a:srgbClr val="F0F7FF"/>
          </a:solidFill>
          <a:ln w="12700">
            <a:solidFill>
              <a:srgbClr val="D6EAF8"/>
            </a:solidFill>
            <a:prstDash val="solid"/>
          </a:ln>
          <a:effectLst>
            <a:outerShdw blurRad="101600" dist="38100" dir="8100000" algn="bl" rotWithShape="0">
              <a:srgbClr val="000000">
                <a:alpha val="12000"/>
              </a:srgbClr>
            </a:outerShdw>
          </a:effectLst>
        </p:spPr>
      </p:sp>
      <p:sp>
        <p:nvSpPr>
          <p:cNvPr id="16" name="Text 13"/>
          <p:cNvSpPr/>
          <p:nvPr/>
        </p:nvSpPr>
        <p:spPr>
          <a:xfrm>
            <a:off x="6080760" y="3200400"/>
            <a:ext cx="2651760" cy="256032"/>
          </a:xfrm>
          <a:prstGeom prst="rect">
            <a:avLst/>
          </a:prstGeom>
          <a:noFill/>
          <a:ln/>
        </p:spPr>
        <p:txBody>
          <a:bodyPr wrap="square" lIns="0" tIns="0" rIns="0" bIns="0" rtlCol="0" anchor="ctr"/>
          <a:lstStyle/>
          <a:p>
            <a:pPr marL="0" indent="0">
              <a:buNone/>
            </a:pPr>
            <a:r>
              <a:rPr lang="en-US" sz="1100" b="1" dirty="0">
                <a:solidFill>
                  <a:srgbClr val="065A82"/>
                </a:solidFill>
                <a:latin typeface="Calibri" pitchFamily="34" charset="0"/>
                <a:ea typeface="Calibri" pitchFamily="34" charset="-122"/>
                <a:cs typeface="Calibri" pitchFamily="34" charset="-120"/>
              </a:rPr>
              <a:t>Dingling</a:t>
            </a:r>
            <a:endParaRPr lang="en-US" sz="1100" dirty="0"/>
          </a:p>
        </p:txBody>
      </p:sp>
      <p:sp>
        <p:nvSpPr>
          <p:cNvPr id="17" name="Text 14"/>
          <p:cNvSpPr/>
          <p:nvPr/>
        </p:nvSpPr>
        <p:spPr>
          <a:xfrm>
            <a:off x="6080760" y="3447288"/>
            <a:ext cx="1280160" cy="237744"/>
          </a:xfrm>
          <a:prstGeom prst="rect">
            <a:avLst/>
          </a:prstGeom>
          <a:noFill/>
          <a:ln/>
        </p:spPr>
        <p:txBody>
          <a:bodyPr wrap="square" lIns="0" tIns="0" rIns="0" bIns="0"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66.0 µg/m³</a:t>
            </a:r>
            <a:endParaRPr lang="en-US" sz="1300" dirty="0"/>
          </a:p>
        </p:txBody>
      </p:sp>
      <p:sp>
        <p:nvSpPr>
          <p:cNvPr id="18" name="Text 15"/>
          <p:cNvSpPr/>
          <p:nvPr/>
        </p:nvSpPr>
        <p:spPr>
          <a:xfrm>
            <a:off x="6080760" y="3639312"/>
            <a:ext cx="2651760" cy="201168"/>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Cleanest — suburban / forest</a:t>
            </a:r>
            <a:endParaRPr lang="en-US" sz="900" dirty="0"/>
          </a:p>
        </p:txBody>
      </p:sp>
      <p:sp>
        <p:nvSpPr>
          <p:cNvPr id="19" name="Shape 16"/>
          <p:cNvSpPr/>
          <p:nvPr/>
        </p:nvSpPr>
        <p:spPr>
          <a:xfrm>
            <a:off x="5989320" y="3986784"/>
            <a:ext cx="2834640" cy="749808"/>
          </a:xfrm>
          <a:prstGeom prst="rect">
            <a:avLst/>
          </a:prstGeom>
          <a:solidFill>
            <a:srgbClr val="F0F7FF"/>
          </a:solidFill>
          <a:ln w="12700">
            <a:solidFill>
              <a:srgbClr val="D6EAF8"/>
            </a:solidFill>
            <a:prstDash val="solid"/>
          </a:ln>
          <a:effectLst>
            <a:outerShdw blurRad="101600" dist="38100" dir="8100000" algn="bl" rotWithShape="0">
              <a:srgbClr val="000000">
                <a:alpha val="12000"/>
              </a:srgbClr>
            </a:outerShdw>
          </a:effectLst>
        </p:spPr>
      </p:sp>
      <p:sp>
        <p:nvSpPr>
          <p:cNvPr id="20" name="Text 17"/>
          <p:cNvSpPr/>
          <p:nvPr/>
        </p:nvSpPr>
        <p:spPr>
          <a:xfrm>
            <a:off x="6080760" y="4041648"/>
            <a:ext cx="2651760" cy="256032"/>
          </a:xfrm>
          <a:prstGeom prst="rect">
            <a:avLst/>
          </a:prstGeom>
          <a:noFill/>
          <a:ln/>
        </p:spPr>
        <p:txBody>
          <a:bodyPr wrap="square" lIns="0" tIns="0" rIns="0" bIns="0" rtlCol="0" anchor="ctr"/>
          <a:lstStyle/>
          <a:p>
            <a:pPr marL="0" indent="0">
              <a:buNone/>
            </a:pPr>
            <a:r>
              <a:rPr lang="en-US" sz="1100" b="1" dirty="0">
                <a:solidFill>
                  <a:srgbClr val="065A82"/>
                </a:solidFill>
                <a:latin typeface="Calibri" pitchFamily="34" charset="0"/>
                <a:ea typeface="Calibri" pitchFamily="34" charset="-122"/>
                <a:cs typeface="Calibri" pitchFamily="34" charset="-120"/>
              </a:rPr>
              <a:t>Huairou</a:t>
            </a:r>
            <a:endParaRPr lang="en-US" sz="1100" dirty="0"/>
          </a:p>
        </p:txBody>
      </p:sp>
      <p:sp>
        <p:nvSpPr>
          <p:cNvPr id="21" name="Text 18"/>
          <p:cNvSpPr/>
          <p:nvPr/>
        </p:nvSpPr>
        <p:spPr>
          <a:xfrm>
            <a:off x="6080760" y="4288536"/>
            <a:ext cx="1280160" cy="237744"/>
          </a:xfrm>
          <a:prstGeom prst="rect">
            <a:avLst/>
          </a:prstGeom>
          <a:noFill/>
          <a:ln/>
        </p:spPr>
        <p:txBody>
          <a:bodyPr wrap="square" lIns="0" tIns="0" rIns="0" bIns="0"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69.6 µg/m³</a:t>
            </a:r>
            <a:endParaRPr lang="en-US" sz="1300" dirty="0"/>
          </a:p>
        </p:txBody>
      </p:sp>
      <p:sp>
        <p:nvSpPr>
          <p:cNvPr id="22" name="Text 19"/>
          <p:cNvSpPr/>
          <p:nvPr/>
        </p:nvSpPr>
        <p:spPr>
          <a:xfrm>
            <a:off x="6080760" y="4480560"/>
            <a:ext cx="2651760" cy="201168"/>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2nd cleanest — rural north</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508152E-03AF-731E-82CA-8A6B664CB9D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A70AF46-440C-D72D-0298-F188F66914C0}"/>
              </a:ext>
            </a:extLst>
          </p:cNvPr>
          <p:cNvSpPr/>
          <p:nvPr/>
        </p:nvSpPr>
        <p:spPr>
          <a:xfrm>
            <a:off x="0" y="0"/>
            <a:ext cx="164592" cy="5143500"/>
          </a:xfrm>
          <a:prstGeom prst="rect">
            <a:avLst/>
          </a:prstGeom>
          <a:solidFill>
            <a:srgbClr val="065A82"/>
          </a:solidFill>
          <a:ln w="12700">
            <a:solidFill>
              <a:srgbClr val="065A82"/>
            </a:solidFill>
            <a:prstDash val="solid"/>
          </a:ln>
        </p:spPr>
      </p:sp>
      <p:sp>
        <p:nvSpPr>
          <p:cNvPr id="3" name="Shape 1">
            <a:extLst>
              <a:ext uri="{FF2B5EF4-FFF2-40B4-BE49-F238E27FC236}">
                <a16:creationId xmlns:a16="http://schemas.microsoft.com/office/drawing/2014/main" id="{11AE5D52-0B50-5668-33B9-80616E1EC493}"/>
              </a:ext>
            </a:extLst>
          </p:cNvPr>
          <p:cNvSpPr/>
          <p:nvPr/>
        </p:nvSpPr>
        <p:spPr>
          <a:xfrm>
            <a:off x="164592" y="0"/>
            <a:ext cx="8979408" cy="914400"/>
          </a:xfrm>
          <a:prstGeom prst="rect">
            <a:avLst/>
          </a:prstGeom>
          <a:solidFill>
            <a:srgbClr val="D6EAF8"/>
          </a:solidFill>
          <a:ln w="12700">
            <a:solidFill>
              <a:srgbClr val="D6EAF8"/>
            </a:solidFill>
            <a:prstDash val="solid"/>
          </a:ln>
        </p:spPr>
      </p:sp>
      <p:sp>
        <p:nvSpPr>
          <p:cNvPr id="4" name="Text 2">
            <a:extLst>
              <a:ext uri="{FF2B5EF4-FFF2-40B4-BE49-F238E27FC236}">
                <a16:creationId xmlns:a16="http://schemas.microsoft.com/office/drawing/2014/main" id="{FB071891-460C-E043-9136-F6D3E07BF95D}"/>
              </a:ext>
            </a:extLst>
          </p:cNvPr>
          <p:cNvSpPr/>
          <p:nvPr/>
        </p:nvSpPr>
        <p:spPr>
          <a:xfrm>
            <a:off x="365760" y="0"/>
            <a:ext cx="8595360" cy="914400"/>
          </a:xfrm>
          <a:prstGeom prst="rect">
            <a:avLst/>
          </a:prstGeom>
          <a:noFill/>
          <a:ln/>
        </p:spPr>
        <p:txBody>
          <a:bodyPr wrap="square" lIns="0" tIns="0" rIns="0" bIns="0" rtlCol="0" anchor="ctr"/>
          <a:lstStyle/>
          <a:p>
            <a:r>
              <a:rPr lang="en-US" sz="2600" b="1" dirty="0">
                <a:solidFill>
                  <a:srgbClr val="065A82"/>
                </a:solidFill>
                <a:latin typeface="Calibri" pitchFamily="34" charset="0"/>
                <a:ea typeface="Calibri" pitchFamily="34" charset="-122"/>
                <a:cs typeface="Calibri" pitchFamily="34" charset="-120"/>
              </a:rPr>
              <a:t>Task 5  ·  Data Visualization - </a:t>
            </a:r>
            <a:r>
              <a:rPr lang="en-US" sz="2800" b="1" dirty="0">
                <a:solidFill>
                  <a:srgbClr val="065A82"/>
                </a:solidFill>
                <a:latin typeface="Calibri" pitchFamily="34" charset="0"/>
                <a:ea typeface="Calibri" pitchFamily="34" charset="-122"/>
                <a:cs typeface="Calibri" pitchFamily="34" charset="-120"/>
              </a:rPr>
              <a:t>PM2.5 Distribution Histogram</a:t>
            </a:r>
            <a:endParaRPr lang="en-US" sz="2600" dirty="0"/>
          </a:p>
        </p:txBody>
      </p:sp>
      <p:pic>
        <p:nvPicPr>
          <p:cNvPr id="27" name="Picture 26">
            <a:extLst>
              <a:ext uri="{FF2B5EF4-FFF2-40B4-BE49-F238E27FC236}">
                <a16:creationId xmlns:a16="http://schemas.microsoft.com/office/drawing/2014/main" id="{830937D7-F942-B623-6DF2-4DE5AEAB0517}"/>
              </a:ext>
            </a:extLst>
          </p:cNvPr>
          <p:cNvPicPr>
            <a:picLocks noChangeAspect="1"/>
          </p:cNvPicPr>
          <p:nvPr/>
        </p:nvPicPr>
        <p:blipFill>
          <a:blip r:embed="rId3"/>
          <a:stretch>
            <a:fillRect/>
          </a:stretch>
        </p:blipFill>
        <p:spPr>
          <a:xfrm>
            <a:off x="365760" y="1023256"/>
            <a:ext cx="4931954" cy="2510973"/>
          </a:xfrm>
          <a:prstGeom prst="rect">
            <a:avLst/>
          </a:prstGeom>
        </p:spPr>
      </p:pic>
      <p:sp>
        <p:nvSpPr>
          <p:cNvPr id="30" name="Text Description"/>
          <p:cNvSpPr/>
          <p:nvPr/>
        </p:nvSpPr>
        <p:spPr>
          <a:xfrm>
            <a:off x="365760" y="3600000"/>
            <a:ext cx="8777520" cy="1400000"/>
          </a:xfrm>
          <a:prstGeom prst="rect">
            <a:avLst/>
          </a:prstGeom>
          <a:solidFill>
            <a:srgbClr val="F0F7FF"/>
          </a:solidFill>
          <a:ln w="12700">
            <a:solidFill>
              <a:srgbClr val="D6EAF8"/>
            </a:solidFill>
          </a:ln>
        </p:spPr>
        <p:txBody>
          <a:bodyPr wrap="square" lIns="182880" tIns="91440" rIns="182880" bIns="91440" rtlCol="0" anchor="t"/>
          <a:lstStyle/>
          <a:p>
            <a:r>
              <a:rPr lang="en-US" sz="1400" b="1" dirty="0">
                <a:solidFill>
                  <a:srgbClr val="065A82"/>
                </a:solidFill>
                <a:latin typeface="Calibri" pitchFamily="34" charset="0"/>
              </a:rPr>
              <a:t>What this chart shows:</a:t>
            </a:r>
          </a:p>
          <a:p>
            <a:r>
              <a:rPr lang="en-US" sz="1100" dirty="0">
                <a:solidFill>
                  <a:srgbClr val="1E293B"/>
                </a:solidFill>
                <a:latin typeface="Calibri" pitchFamily="34" charset="0"/>
              </a:rPr>
              <a:t>The histogram reveals a right-skewed distribution — most hourly readings fall between 0–150 µg/m³ but a long tail extends toward extreme values near 999 µg/m³. The red dashed line marks the mean (79.8) and the orange dashed line marks the median (55.0). The gap between them confirms the skew: severe pollution events pull the mean above the typical value, making the median a more representative measure of an average hour.</a:t>
            </a:r>
          </a:p>
        </p:txBody>
      </p:sp>
    </p:spTree>
    <p:extLst>
      <p:ext uri="{BB962C8B-B14F-4D97-AF65-F5344CB8AC3E}">
        <p14:creationId xmlns:p14="http://schemas.microsoft.com/office/powerpoint/2010/main" val="392865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65A82"/>
          </a:solidFill>
          <a:ln w="12700">
            <a:solidFill>
              <a:srgbClr val="065A82"/>
            </a:solidFill>
            <a:prstDash val="solid"/>
          </a:ln>
        </p:spPr>
      </p:sp>
      <p:sp>
        <p:nvSpPr>
          <p:cNvPr id="3" name="Shape 1"/>
          <p:cNvSpPr/>
          <p:nvPr/>
        </p:nvSpPr>
        <p:spPr>
          <a:xfrm>
            <a:off x="164592" y="0"/>
            <a:ext cx="8979408" cy="914400"/>
          </a:xfrm>
          <a:prstGeom prst="rect">
            <a:avLst/>
          </a:prstGeom>
          <a:solidFill>
            <a:srgbClr val="D6EAF8"/>
          </a:solidFill>
          <a:ln w="12700">
            <a:solidFill>
              <a:srgbClr val="D6EAF8"/>
            </a:solidFill>
            <a:prstDash val="solid"/>
          </a:ln>
        </p:spPr>
      </p:sp>
      <p:sp>
        <p:nvSpPr>
          <p:cNvPr id="4" name="Text 2"/>
          <p:cNvSpPr/>
          <p:nvPr/>
        </p:nvSpPr>
        <p:spPr>
          <a:xfrm>
            <a:off x="365760" y="0"/>
            <a:ext cx="8595360" cy="914400"/>
          </a:xfrm>
          <a:prstGeom prst="rect">
            <a:avLst/>
          </a:prstGeom>
          <a:noFill/>
          <a:ln/>
        </p:spPr>
        <p:txBody>
          <a:bodyPr wrap="square" lIns="0" tIns="0" rIns="0" bIns="0" rtlCol="0" anchor="ctr"/>
          <a:lstStyle/>
          <a:p>
            <a:r>
              <a:rPr lang="en-US" sz="2600" b="1" dirty="0">
                <a:solidFill>
                  <a:srgbClr val="065A82"/>
                </a:solidFill>
                <a:latin typeface="Calibri" pitchFamily="34" charset="0"/>
                <a:ea typeface="Calibri" pitchFamily="34" charset="-122"/>
                <a:cs typeface="Calibri" pitchFamily="34" charset="-120"/>
              </a:rPr>
              <a:t>Task 5  ·  Data Visualization - </a:t>
            </a:r>
            <a:r>
              <a:rPr lang="en-US" sz="2800" b="1" dirty="0">
                <a:solidFill>
                  <a:srgbClr val="065A82"/>
                </a:solidFill>
                <a:latin typeface="Calibri" pitchFamily="34" charset="0"/>
                <a:ea typeface="Calibri" pitchFamily="34" charset="-122"/>
                <a:cs typeface="Calibri" pitchFamily="34" charset="-120"/>
              </a:rPr>
              <a:t> PM2.5 Over Time Line Plot</a:t>
            </a:r>
            <a:endParaRPr lang="en-US" sz="2800" dirty="0"/>
          </a:p>
          <a:p>
            <a:pPr marL="0" indent="0">
              <a:buNone/>
            </a:pPr>
            <a:endParaRPr lang="en-US" sz="2600" dirty="0"/>
          </a:p>
        </p:txBody>
      </p:sp>
      <p:pic>
        <p:nvPicPr>
          <p:cNvPr id="29" name="Picture 28">
            <a:extLst>
              <a:ext uri="{FF2B5EF4-FFF2-40B4-BE49-F238E27FC236}">
                <a16:creationId xmlns:a16="http://schemas.microsoft.com/office/drawing/2014/main" id="{46E1876F-AAA2-BB1A-4579-1C5E39303DD8}"/>
              </a:ext>
            </a:extLst>
          </p:cNvPr>
          <p:cNvPicPr>
            <a:picLocks noChangeAspect="1"/>
          </p:cNvPicPr>
          <p:nvPr/>
        </p:nvPicPr>
        <p:blipFill>
          <a:blip r:embed="rId3"/>
          <a:stretch>
            <a:fillRect/>
          </a:stretch>
        </p:blipFill>
        <p:spPr>
          <a:xfrm>
            <a:off x="1064391" y="998845"/>
            <a:ext cx="7179810" cy="2470069"/>
          </a:xfrm>
          <a:prstGeom prst="rect">
            <a:avLst/>
          </a:prstGeom>
        </p:spPr>
      </p:pic>
      <p:sp>
        <p:nvSpPr>
          <p:cNvPr id="30" name="Text Description"/>
          <p:cNvSpPr/>
          <p:nvPr/>
        </p:nvSpPr>
        <p:spPr>
          <a:xfrm>
            <a:off x="365760" y="3600000"/>
            <a:ext cx="8777520" cy="1400000"/>
          </a:xfrm>
          <a:prstGeom prst="rect">
            <a:avLst/>
          </a:prstGeom>
          <a:solidFill>
            <a:srgbClr val="F0F7FF"/>
          </a:solidFill>
          <a:ln w="12700">
            <a:solidFill>
              <a:srgbClr val="D6EAF8"/>
            </a:solidFill>
          </a:ln>
        </p:spPr>
        <p:txBody>
          <a:bodyPr wrap="square" lIns="182880" tIns="91440" rIns="182880" bIns="91440" rtlCol="0" anchor="t"/>
          <a:lstStyle/>
          <a:p>
            <a:r>
              <a:rPr lang="en-US" sz="1400" b="1" dirty="0">
                <a:solidFill>
                  <a:srgbClr val="065A82"/>
                </a:solidFill>
                <a:latin typeface="Calibri" pitchFamily="34" charset="0"/>
              </a:rPr>
              <a:t>What this chart shows:</a:t>
            </a:r>
          </a:p>
          <a:p>
            <a:r>
              <a:rPr lang="en-US" sz="1100" dirty="0">
                <a:solidFill>
                  <a:srgbClr val="1E293B"/>
                </a:solidFill>
                <a:latin typeface="Calibri" pitchFamily="34" charset="0"/>
              </a:rPr>
              <a:t>The line plot shows monthly-averaged PM2.5 across all 12 stations from March 2013 to February 2017. A clear seasonal pattern repeats every year — sharp spikes each winter (November–February) driven by coal and gas heating emissions, followed by cleaner summer months when warmer air promotes better atmospheric mixing. The shaded area highlights the magnitude of these swings. The pattern is consistent across all four years, confirming heating season as the primary pollution driver.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65A82"/>
          </a:solidFill>
          <a:ln w="12700">
            <a:solidFill>
              <a:srgbClr val="065A82"/>
            </a:solidFill>
            <a:prstDash val="solid"/>
          </a:ln>
        </p:spPr>
      </p:sp>
      <p:sp>
        <p:nvSpPr>
          <p:cNvPr id="3" name="Shape 1"/>
          <p:cNvSpPr/>
          <p:nvPr/>
        </p:nvSpPr>
        <p:spPr>
          <a:xfrm>
            <a:off x="164592" y="0"/>
            <a:ext cx="8979408" cy="914400"/>
          </a:xfrm>
          <a:prstGeom prst="rect">
            <a:avLst/>
          </a:prstGeom>
          <a:solidFill>
            <a:srgbClr val="D6EAF8"/>
          </a:solidFill>
          <a:ln w="12700">
            <a:solidFill>
              <a:srgbClr val="D6EAF8"/>
            </a:solidFill>
            <a:prstDash val="solid"/>
          </a:ln>
        </p:spPr>
      </p:sp>
      <p:sp>
        <p:nvSpPr>
          <p:cNvPr id="4" name="Text 2"/>
          <p:cNvSpPr/>
          <p:nvPr/>
        </p:nvSpPr>
        <p:spPr>
          <a:xfrm>
            <a:off x="365760" y="0"/>
            <a:ext cx="6400800" cy="914400"/>
          </a:xfrm>
          <a:prstGeom prst="rect">
            <a:avLst/>
          </a:prstGeom>
          <a:noFill/>
          <a:ln/>
        </p:spPr>
        <p:txBody>
          <a:bodyPr wrap="square" lIns="0" tIns="0" rIns="0" bIns="0" rtlCol="0" anchor="ctr"/>
          <a:lstStyle/>
          <a:p>
            <a:pPr marL="0" indent="0">
              <a:buNone/>
            </a:pPr>
            <a:r>
              <a:rPr lang="en-US" sz="2600" b="1" dirty="0">
                <a:solidFill>
                  <a:srgbClr val="065A82"/>
                </a:solidFill>
                <a:latin typeface="Calibri" pitchFamily="34" charset="0"/>
                <a:ea typeface="Calibri" pitchFamily="34" charset="-122"/>
                <a:cs typeface="Calibri" pitchFamily="34" charset="-120"/>
              </a:rPr>
              <a:t>Task 6  ·  Correlation Heatmap</a:t>
            </a:r>
            <a:endParaRPr lang="en-US" sz="2600" dirty="0"/>
          </a:p>
        </p:txBody>
      </p:sp>
      <p:pic>
        <p:nvPicPr>
          <p:cNvPr id="5" name="Image 0" descr="/home/claude/heatmap.png"/>
          <p:cNvPicPr>
            <a:picLocks noChangeAspect="1"/>
          </p:cNvPicPr>
          <p:nvPr/>
        </p:nvPicPr>
        <p:blipFill>
          <a:blip r:embed="rId3"/>
          <a:stretch>
            <a:fillRect/>
          </a:stretch>
        </p:blipFill>
        <p:spPr>
          <a:xfrm>
            <a:off x="274320" y="960120"/>
            <a:ext cx="6035040" cy="3977640"/>
          </a:xfrm>
          <a:prstGeom prst="rect">
            <a:avLst/>
          </a:prstGeom>
        </p:spPr>
      </p:pic>
      <p:sp>
        <p:nvSpPr>
          <p:cNvPr id="6" name="Text 3"/>
          <p:cNvSpPr/>
          <p:nvPr/>
        </p:nvSpPr>
        <p:spPr>
          <a:xfrm>
            <a:off x="6492240" y="960120"/>
            <a:ext cx="2423160" cy="32004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Key Observations</a:t>
            </a:r>
            <a:endParaRPr lang="en-US" sz="1200" dirty="0"/>
          </a:p>
        </p:txBody>
      </p:sp>
      <p:sp>
        <p:nvSpPr>
          <p:cNvPr id="7" name="Shape 4"/>
          <p:cNvSpPr/>
          <p:nvPr/>
        </p:nvSpPr>
        <p:spPr>
          <a:xfrm>
            <a:off x="6492240" y="1371600"/>
            <a:ext cx="2423160" cy="658368"/>
          </a:xfrm>
          <a:prstGeom prst="rect">
            <a:avLst/>
          </a:prstGeom>
          <a:solidFill>
            <a:srgbClr val="F0F7FF"/>
          </a:solidFill>
          <a:ln w="12700">
            <a:solidFill>
              <a:srgbClr val="D6EAF8"/>
            </a:solidFill>
            <a:prstDash val="solid"/>
          </a:ln>
          <a:effectLst>
            <a:outerShdw blurRad="101600" dist="38100" dir="8100000" algn="bl" rotWithShape="0">
              <a:srgbClr val="000000">
                <a:alpha val="12000"/>
              </a:srgbClr>
            </a:outerShdw>
          </a:effectLst>
        </p:spPr>
      </p:sp>
      <p:sp>
        <p:nvSpPr>
          <p:cNvPr id="8" name="Shape 5"/>
          <p:cNvSpPr/>
          <p:nvPr/>
        </p:nvSpPr>
        <p:spPr>
          <a:xfrm>
            <a:off x="6492240" y="1371600"/>
            <a:ext cx="566928" cy="658368"/>
          </a:xfrm>
          <a:prstGeom prst="rect">
            <a:avLst/>
          </a:prstGeom>
          <a:solidFill>
            <a:srgbClr val="065A82"/>
          </a:solidFill>
          <a:ln w="12700">
            <a:solidFill>
              <a:srgbClr val="065A82"/>
            </a:solidFill>
            <a:prstDash val="solid"/>
          </a:ln>
        </p:spPr>
      </p:sp>
      <p:sp>
        <p:nvSpPr>
          <p:cNvPr id="9" name="Text 6"/>
          <p:cNvSpPr/>
          <p:nvPr/>
        </p:nvSpPr>
        <p:spPr>
          <a:xfrm>
            <a:off x="6492240" y="1371600"/>
            <a:ext cx="566928" cy="6583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0.88</a:t>
            </a:r>
            <a:endParaRPr lang="en-US" sz="900" dirty="0"/>
          </a:p>
        </p:txBody>
      </p:sp>
      <p:sp>
        <p:nvSpPr>
          <p:cNvPr id="10" name="Text 7"/>
          <p:cNvSpPr/>
          <p:nvPr/>
        </p:nvSpPr>
        <p:spPr>
          <a:xfrm>
            <a:off x="7114032" y="1417320"/>
            <a:ext cx="1737360" cy="237744"/>
          </a:xfrm>
          <a:prstGeom prst="rect">
            <a:avLst/>
          </a:prstGeom>
          <a:noFill/>
          <a:ln/>
        </p:spPr>
        <p:txBody>
          <a:bodyPr wrap="square" lIns="0" tIns="0" rIns="0" bIns="0" rtlCol="0" anchor="ctr"/>
          <a:lstStyle/>
          <a:p>
            <a:pPr marL="0" indent="0">
              <a:buNone/>
            </a:pPr>
            <a:r>
              <a:rPr lang="en-US" sz="900" b="1" dirty="0">
                <a:solidFill>
                  <a:srgbClr val="065A82"/>
                </a:solidFill>
                <a:latin typeface="Calibri" pitchFamily="34" charset="0"/>
                <a:ea typeface="Calibri" pitchFamily="34" charset="-122"/>
                <a:cs typeface="Calibri" pitchFamily="34" charset="-120"/>
              </a:rPr>
              <a:t>PM2.5 ↔ PM10</a:t>
            </a:r>
            <a:endParaRPr lang="en-US" sz="900" dirty="0"/>
          </a:p>
        </p:txBody>
      </p:sp>
      <p:sp>
        <p:nvSpPr>
          <p:cNvPr id="11" name="Text 8"/>
          <p:cNvSpPr/>
          <p:nvPr/>
        </p:nvSpPr>
        <p:spPr>
          <a:xfrm>
            <a:off x="7114032" y="1664208"/>
            <a:ext cx="17373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Strongest link — both track particulate matter</a:t>
            </a:r>
            <a:endParaRPr lang="en-US" sz="800" dirty="0"/>
          </a:p>
        </p:txBody>
      </p:sp>
      <p:sp>
        <p:nvSpPr>
          <p:cNvPr id="12" name="Shape 9"/>
          <p:cNvSpPr/>
          <p:nvPr/>
        </p:nvSpPr>
        <p:spPr>
          <a:xfrm>
            <a:off x="6492240" y="2121408"/>
            <a:ext cx="2423160" cy="658368"/>
          </a:xfrm>
          <a:prstGeom prst="rect">
            <a:avLst/>
          </a:prstGeom>
          <a:solidFill>
            <a:srgbClr val="FFFFFF"/>
          </a:solidFill>
          <a:ln w="12700">
            <a:solidFill>
              <a:srgbClr val="D6EAF8"/>
            </a:solidFill>
            <a:prstDash val="solid"/>
          </a:ln>
          <a:effectLst>
            <a:outerShdw blurRad="101600" dist="38100" dir="8100000" algn="bl" rotWithShape="0">
              <a:srgbClr val="000000">
                <a:alpha val="12000"/>
              </a:srgbClr>
            </a:outerShdw>
          </a:effectLst>
        </p:spPr>
      </p:sp>
      <p:sp>
        <p:nvSpPr>
          <p:cNvPr id="13" name="Shape 10"/>
          <p:cNvSpPr/>
          <p:nvPr/>
        </p:nvSpPr>
        <p:spPr>
          <a:xfrm>
            <a:off x="6492240" y="2121408"/>
            <a:ext cx="566928" cy="658368"/>
          </a:xfrm>
          <a:prstGeom prst="rect">
            <a:avLst/>
          </a:prstGeom>
          <a:solidFill>
            <a:srgbClr val="065A82"/>
          </a:solidFill>
          <a:ln w="12700">
            <a:solidFill>
              <a:srgbClr val="065A82"/>
            </a:solidFill>
            <a:prstDash val="solid"/>
          </a:ln>
        </p:spPr>
      </p:sp>
      <p:sp>
        <p:nvSpPr>
          <p:cNvPr id="14" name="Text 11"/>
          <p:cNvSpPr/>
          <p:nvPr/>
        </p:nvSpPr>
        <p:spPr>
          <a:xfrm>
            <a:off x="6492240" y="2121408"/>
            <a:ext cx="566928" cy="6583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0.78</a:t>
            </a:r>
            <a:endParaRPr lang="en-US" sz="900" dirty="0"/>
          </a:p>
        </p:txBody>
      </p:sp>
      <p:sp>
        <p:nvSpPr>
          <p:cNvPr id="15" name="Text 12"/>
          <p:cNvSpPr/>
          <p:nvPr/>
        </p:nvSpPr>
        <p:spPr>
          <a:xfrm>
            <a:off x="7114032" y="2167128"/>
            <a:ext cx="1737360" cy="237744"/>
          </a:xfrm>
          <a:prstGeom prst="rect">
            <a:avLst/>
          </a:prstGeom>
          <a:noFill/>
          <a:ln/>
        </p:spPr>
        <p:txBody>
          <a:bodyPr wrap="square" lIns="0" tIns="0" rIns="0" bIns="0" rtlCol="0" anchor="ctr"/>
          <a:lstStyle/>
          <a:p>
            <a:pPr marL="0" indent="0">
              <a:buNone/>
            </a:pPr>
            <a:r>
              <a:rPr lang="en-US" sz="900" b="1" dirty="0">
                <a:solidFill>
                  <a:srgbClr val="065A82"/>
                </a:solidFill>
                <a:latin typeface="Calibri" pitchFamily="34" charset="0"/>
                <a:ea typeface="Calibri" pitchFamily="34" charset="-122"/>
                <a:cs typeface="Calibri" pitchFamily="34" charset="-120"/>
              </a:rPr>
              <a:t>PM2.5 ↔ CO</a:t>
            </a:r>
            <a:endParaRPr lang="en-US" sz="900" dirty="0"/>
          </a:p>
        </p:txBody>
      </p:sp>
      <p:sp>
        <p:nvSpPr>
          <p:cNvPr id="16" name="Text 13"/>
          <p:cNvSpPr/>
          <p:nvPr/>
        </p:nvSpPr>
        <p:spPr>
          <a:xfrm>
            <a:off x="7114032" y="2414016"/>
            <a:ext cx="17373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Combustion sources drive both simultaneously</a:t>
            </a:r>
            <a:endParaRPr lang="en-US" sz="800" dirty="0"/>
          </a:p>
        </p:txBody>
      </p:sp>
      <p:sp>
        <p:nvSpPr>
          <p:cNvPr id="17" name="Shape 14"/>
          <p:cNvSpPr/>
          <p:nvPr/>
        </p:nvSpPr>
        <p:spPr>
          <a:xfrm>
            <a:off x="6492240" y="2871216"/>
            <a:ext cx="2423160" cy="658368"/>
          </a:xfrm>
          <a:prstGeom prst="rect">
            <a:avLst/>
          </a:prstGeom>
          <a:solidFill>
            <a:srgbClr val="F0F7FF"/>
          </a:solidFill>
          <a:ln w="12700">
            <a:solidFill>
              <a:srgbClr val="D6EAF8"/>
            </a:solidFill>
            <a:prstDash val="solid"/>
          </a:ln>
          <a:effectLst>
            <a:outerShdw blurRad="101600" dist="38100" dir="8100000" algn="bl" rotWithShape="0">
              <a:srgbClr val="000000">
                <a:alpha val="12000"/>
              </a:srgbClr>
            </a:outerShdw>
          </a:effectLst>
        </p:spPr>
      </p:sp>
      <p:sp>
        <p:nvSpPr>
          <p:cNvPr id="18" name="Shape 15"/>
          <p:cNvSpPr/>
          <p:nvPr/>
        </p:nvSpPr>
        <p:spPr>
          <a:xfrm>
            <a:off x="6492240" y="2871216"/>
            <a:ext cx="566928" cy="658368"/>
          </a:xfrm>
          <a:prstGeom prst="rect">
            <a:avLst/>
          </a:prstGeom>
          <a:solidFill>
            <a:srgbClr val="065A82"/>
          </a:solidFill>
          <a:ln w="12700">
            <a:solidFill>
              <a:srgbClr val="065A82"/>
            </a:solidFill>
            <a:prstDash val="solid"/>
          </a:ln>
        </p:spPr>
      </p:sp>
      <p:sp>
        <p:nvSpPr>
          <p:cNvPr id="19" name="Text 16"/>
          <p:cNvSpPr/>
          <p:nvPr/>
        </p:nvSpPr>
        <p:spPr>
          <a:xfrm>
            <a:off x="6492240" y="2871216"/>
            <a:ext cx="566928" cy="6583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0.82</a:t>
            </a:r>
            <a:endParaRPr lang="en-US" sz="900" dirty="0"/>
          </a:p>
        </p:txBody>
      </p:sp>
      <p:sp>
        <p:nvSpPr>
          <p:cNvPr id="20" name="Text 17"/>
          <p:cNvSpPr/>
          <p:nvPr/>
        </p:nvSpPr>
        <p:spPr>
          <a:xfrm>
            <a:off x="7114032" y="2916936"/>
            <a:ext cx="1737360" cy="237744"/>
          </a:xfrm>
          <a:prstGeom prst="rect">
            <a:avLst/>
          </a:prstGeom>
          <a:noFill/>
          <a:ln/>
        </p:spPr>
        <p:txBody>
          <a:bodyPr wrap="square" lIns="0" tIns="0" rIns="0" bIns="0" rtlCol="0" anchor="ctr"/>
          <a:lstStyle/>
          <a:p>
            <a:pPr marL="0" indent="0">
              <a:buNone/>
            </a:pPr>
            <a:r>
              <a:rPr lang="en-US" sz="900" b="1" dirty="0">
                <a:solidFill>
                  <a:srgbClr val="065A82"/>
                </a:solidFill>
                <a:latin typeface="Calibri" pitchFamily="34" charset="0"/>
                <a:ea typeface="Calibri" pitchFamily="34" charset="-122"/>
                <a:cs typeface="Calibri" pitchFamily="34" charset="-120"/>
              </a:rPr>
              <a:t>TEMP ↔ DEWP</a:t>
            </a:r>
            <a:endParaRPr lang="en-US" sz="900" dirty="0"/>
          </a:p>
        </p:txBody>
      </p:sp>
      <p:sp>
        <p:nvSpPr>
          <p:cNvPr id="21" name="Text 18"/>
          <p:cNvSpPr/>
          <p:nvPr/>
        </p:nvSpPr>
        <p:spPr>
          <a:xfrm>
            <a:off x="7114032" y="3163824"/>
            <a:ext cx="17373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Weather variables tightly coupled</a:t>
            </a:r>
            <a:endParaRPr lang="en-US" sz="800" dirty="0"/>
          </a:p>
        </p:txBody>
      </p:sp>
      <p:sp>
        <p:nvSpPr>
          <p:cNvPr id="22" name="Shape 19"/>
          <p:cNvSpPr/>
          <p:nvPr/>
        </p:nvSpPr>
        <p:spPr>
          <a:xfrm>
            <a:off x="6492240" y="3621024"/>
            <a:ext cx="2423160" cy="658368"/>
          </a:xfrm>
          <a:prstGeom prst="rect">
            <a:avLst/>
          </a:prstGeom>
          <a:solidFill>
            <a:srgbClr val="FFFFFF"/>
          </a:solidFill>
          <a:ln w="12700">
            <a:solidFill>
              <a:srgbClr val="D6EAF8"/>
            </a:solidFill>
            <a:prstDash val="solid"/>
          </a:ln>
          <a:effectLst>
            <a:outerShdw blurRad="101600" dist="38100" dir="8100000" algn="bl" rotWithShape="0">
              <a:srgbClr val="000000">
                <a:alpha val="12000"/>
              </a:srgbClr>
            </a:outerShdw>
          </a:effectLst>
        </p:spPr>
      </p:sp>
      <p:sp>
        <p:nvSpPr>
          <p:cNvPr id="23" name="Shape 20"/>
          <p:cNvSpPr/>
          <p:nvPr/>
        </p:nvSpPr>
        <p:spPr>
          <a:xfrm>
            <a:off x="6492240" y="3621024"/>
            <a:ext cx="566928" cy="658368"/>
          </a:xfrm>
          <a:prstGeom prst="rect">
            <a:avLst/>
          </a:prstGeom>
          <a:solidFill>
            <a:srgbClr val="065A82"/>
          </a:solidFill>
          <a:ln w="12700">
            <a:solidFill>
              <a:srgbClr val="065A82"/>
            </a:solidFill>
            <a:prstDash val="solid"/>
          </a:ln>
        </p:spPr>
      </p:sp>
      <p:sp>
        <p:nvSpPr>
          <p:cNvPr id="24" name="Text 21"/>
          <p:cNvSpPr/>
          <p:nvPr/>
        </p:nvSpPr>
        <p:spPr>
          <a:xfrm>
            <a:off x="6492240" y="3621024"/>
            <a:ext cx="566928" cy="6583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−0.81</a:t>
            </a:r>
            <a:endParaRPr lang="en-US" sz="900" dirty="0"/>
          </a:p>
        </p:txBody>
      </p:sp>
      <p:sp>
        <p:nvSpPr>
          <p:cNvPr id="25" name="Text 22"/>
          <p:cNvSpPr/>
          <p:nvPr/>
        </p:nvSpPr>
        <p:spPr>
          <a:xfrm>
            <a:off x="7114032" y="3666744"/>
            <a:ext cx="1737360" cy="237744"/>
          </a:xfrm>
          <a:prstGeom prst="rect">
            <a:avLst/>
          </a:prstGeom>
          <a:noFill/>
          <a:ln/>
        </p:spPr>
        <p:txBody>
          <a:bodyPr wrap="square" lIns="0" tIns="0" rIns="0" bIns="0" rtlCol="0" anchor="ctr"/>
          <a:lstStyle/>
          <a:p>
            <a:pPr marL="0" indent="0">
              <a:buNone/>
            </a:pPr>
            <a:r>
              <a:rPr lang="en-US" sz="900" b="1" dirty="0">
                <a:solidFill>
                  <a:srgbClr val="065A82"/>
                </a:solidFill>
                <a:latin typeface="Calibri" pitchFamily="34" charset="0"/>
                <a:ea typeface="Calibri" pitchFamily="34" charset="-122"/>
                <a:cs typeface="Calibri" pitchFamily="34" charset="-120"/>
              </a:rPr>
              <a:t>TEMP ↔ PRES</a:t>
            </a:r>
            <a:endParaRPr lang="en-US" sz="900" dirty="0"/>
          </a:p>
        </p:txBody>
      </p:sp>
      <p:sp>
        <p:nvSpPr>
          <p:cNvPr id="26" name="Text 23"/>
          <p:cNvSpPr/>
          <p:nvPr/>
        </p:nvSpPr>
        <p:spPr>
          <a:xfrm>
            <a:off x="7114032" y="3913632"/>
            <a:ext cx="17373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Cold air = higher pressure — classic pattern</a:t>
            </a:r>
            <a:endParaRPr lang="en-US" sz="800" dirty="0"/>
          </a:p>
        </p:txBody>
      </p:sp>
      <p:sp>
        <p:nvSpPr>
          <p:cNvPr id="27" name="Shape 24"/>
          <p:cNvSpPr/>
          <p:nvPr/>
        </p:nvSpPr>
        <p:spPr>
          <a:xfrm>
            <a:off x="6492240" y="4370832"/>
            <a:ext cx="2423160" cy="658368"/>
          </a:xfrm>
          <a:prstGeom prst="rect">
            <a:avLst/>
          </a:prstGeom>
          <a:solidFill>
            <a:srgbClr val="F0F7FF"/>
          </a:solidFill>
          <a:ln w="12700">
            <a:solidFill>
              <a:srgbClr val="D6EAF8"/>
            </a:solidFill>
            <a:prstDash val="solid"/>
          </a:ln>
          <a:effectLst>
            <a:outerShdw blurRad="101600" dist="38100" dir="8100000" algn="bl" rotWithShape="0">
              <a:srgbClr val="000000">
                <a:alpha val="12000"/>
              </a:srgbClr>
            </a:outerShdw>
          </a:effectLst>
        </p:spPr>
      </p:sp>
      <p:sp>
        <p:nvSpPr>
          <p:cNvPr id="28" name="Shape 25"/>
          <p:cNvSpPr/>
          <p:nvPr/>
        </p:nvSpPr>
        <p:spPr>
          <a:xfrm>
            <a:off x="6492240" y="4370832"/>
            <a:ext cx="566928" cy="658368"/>
          </a:xfrm>
          <a:prstGeom prst="rect">
            <a:avLst/>
          </a:prstGeom>
          <a:solidFill>
            <a:srgbClr val="065A82"/>
          </a:solidFill>
          <a:ln w="12700">
            <a:solidFill>
              <a:srgbClr val="065A82"/>
            </a:solidFill>
            <a:prstDash val="solid"/>
          </a:ln>
        </p:spPr>
      </p:sp>
      <p:sp>
        <p:nvSpPr>
          <p:cNvPr id="29" name="Text 26"/>
          <p:cNvSpPr/>
          <p:nvPr/>
        </p:nvSpPr>
        <p:spPr>
          <a:xfrm>
            <a:off x="6492240" y="4370832"/>
            <a:ext cx="566928" cy="6583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−0.27</a:t>
            </a:r>
            <a:endParaRPr lang="en-US" sz="900" dirty="0"/>
          </a:p>
        </p:txBody>
      </p:sp>
      <p:sp>
        <p:nvSpPr>
          <p:cNvPr id="30" name="Text 27"/>
          <p:cNvSpPr/>
          <p:nvPr/>
        </p:nvSpPr>
        <p:spPr>
          <a:xfrm>
            <a:off x="7114032" y="4416552"/>
            <a:ext cx="1737360" cy="237744"/>
          </a:xfrm>
          <a:prstGeom prst="rect">
            <a:avLst/>
          </a:prstGeom>
          <a:noFill/>
          <a:ln/>
        </p:spPr>
        <p:txBody>
          <a:bodyPr wrap="square" lIns="0" tIns="0" rIns="0" bIns="0" rtlCol="0" anchor="ctr"/>
          <a:lstStyle/>
          <a:p>
            <a:pPr marL="0" indent="0">
              <a:buNone/>
            </a:pPr>
            <a:r>
              <a:rPr lang="en-US" sz="900" b="1" dirty="0">
                <a:solidFill>
                  <a:srgbClr val="065A82"/>
                </a:solidFill>
                <a:latin typeface="Calibri" pitchFamily="34" charset="0"/>
                <a:ea typeface="Calibri" pitchFamily="34" charset="-122"/>
                <a:cs typeface="Calibri" pitchFamily="34" charset="-120"/>
              </a:rPr>
              <a:t>PM2.5 ↔ WSPM</a:t>
            </a:r>
            <a:endParaRPr lang="en-US" sz="900" dirty="0"/>
          </a:p>
        </p:txBody>
      </p:sp>
      <p:sp>
        <p:nvSpPr>
          <p:cNvPr id="31" name="Text 28"/>
          <p:cNvSpPr/>
          <p:nvPr/>
        </p:nvSpPr>
        <p:spPr>
          <a:xfrm>
            <a:off x="7114032" y="4663440"/>
            <a:ext cx="17373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Wind disperses pollution — negative as expected</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65A82"/>
          </a:solidFill>
          <a:ln w="12700">
            <a:solidFill>
              <a:srgbClr val="065A82"/>
            </a:solidFill>
            <a:prstDash val="solid"/>
          </a:ln>
        </p:spPr>
      </p:sp>
      <p:sp>
        <p:nvSpPr>
          <p:cNvPr id="3" name="Shape 1"/>
          <p:cNvSpPr/>
          <p:nvPr/>
        </p:nvSpPr>
        <p:spPr>
          <a:xfrm>
            <a:off x="164592" y="0"/>
            <a:ext cx="8979408" cy="914400"/>
          </a:xfrm>
          <a:prstGeom prst="rect">
            <a:avLst/>
          </a:prstGeom>
          <a:solidFill>
            <a:srgbClr val="D6EAF8"/>
          </a:solidFill>
          <a:ln w="12700">
            <a:solidFill>
              <a:srgbClr val="D6EAF8"/>
            </a:solidFill>
            <a:prstDash val="solid"/>
          </a:ln>
        </p:spPr>
      </p:sp>
      <p:sp>
        <p:nvSpPr>
          <p:cNvPr id="4" name="Text 2"/>
          <p:cNvSpPr/>
          <p:nvPr/>
        </p:nvSpPr>
        <p:spPr>
          <a:xfrm>
            <a:off x="365760" y="0"/>
            <a:ext cx="8595360" cy="914400"/>
          </a:xfrm>
          <a:prstGeom prst="rect">
            <a:avLst/>
          </a:prstGeom>
          <a:noFill/>
          <a:ln/>
        </p:spPr>
        <p:txBody>
          <a:bodyPr wrap="square" lIns="0" tIns="0" rIns="0" bIns="0" rtlCol="0" anchor="ctr"/>
          <a:lstStyle/>
          <a:p>
            <a:pPr marL="0" indent="0">
              <a:buNone/>
            </a:pPr>
            <a:r>
              <a:rPr lang="en-US" sz="2600" b="1" dirty="0">
                <a:solidFill>
                  <a:srgbClr val="065A82"/>
                </a:solidFill>
                <a:latin typeface="Calibri" pitchFamily="34" charset="0"/>
                <a:ea typeface="Calibri" pitchFamily="34" charset="-122"/>
                <a:cs typeface="Calibri" pitchFamily="34" charset="-120"/>
              </a:rPr>
              <a:t>Task 6  ·  Correlation Analysis</a:t>
            </a:r>
            <a:endParaRPr lang="en-US" sz="2600" dirty="0"/>
          </a:p>
        </p:txBody>
      </p:sp>
      <p:graphicFrame>
        <p:nvGraphicFramePr>
          <p:cNvPr id="5" name="Chart 0"/>
          <p:cNvGraphicFramePr/>
          <p:nvPr/>
        </p:nvGraphicFramePr>
        <p:xfrm>
          <a:off x="320040" y="1005840"/>
          <a:ext cx="512064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623560" y="1005840"/>
            <a:ext cx="3200400" cy="32004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Q1: Most correlated variable?</a:t>
            </a:r>
            <a:endParaRPr lang="en-US" sz="1200" dirty="0"/>
          </a:p>
        </p:txBody>
      </p:sp>
      <p:sp>
        <p:nvSpPr>
          <p:cNvPr id="7" name="Shape 4"/>
          <p:cNvSpPr/>
          <p:nvPr/>
        </p:nvSpPr>
        <p:spPr>
          <a:xfrm>
            <a:off x="5623560" y="1371600"/>
            <a:ext cx="3200400" cy="960120"/>
          </a:xfrm>
          <a:prstGeom prst="rect">
            <a:avLst/>
          </a:prstGeom>
          <a:solidFill>
            <a:srgbClr val="021B2E"/>
          </a:solidFill>
          <a:ln w="12700">
            <a:solidFill>
              <a:srgbClr val="1C7293"/>
            </a:solidFill>
            <a:prstDash val="solid"/>
          </a:ln>
          <a:effectLst>
            <a:outerShdw blurRad="101600" dist="38100" dir="8100000" algn="bl" rotWithShape="0">
              <a:srgbClr val="000000">
                <a:alpha val="12000"/>
              </a:srgbClr>
            </a:outerShdw>
          </a:effectLst>
        </p:spPr>
      </p:sp>
      <p:sp>
        <p:nvSpPr>
          <p:cNvPr id="8" name="Text 5"/>
          <p:cNvSpPr/>
          <p:nvPr/>
        </p:nvSpPr>
        <p:spPr>
          <a:xfrm>
            <a:off x="5623560" y="1444752"/>
            <a:ext cx="3200400" cy="411480"/>
          </a:xfrm>
          <a:prstGeom prst="rect">
            <a:avLst/>
          </a:prstGeom>
          <a:noFill/>
          <a:ln/>
        </p:spPr>
        <p:txBody>
          <a:bodyPr wrap="square" lIns="0" tIns="0" rIns="0" bIns="0" rtlCol="0" anchor="ctr"/>
          <a:lstStyle/>
          <a:p>
            <a:pPr marL="0" indent="0" algn="ctr">
              <a:buNone/>
            </a:pPr>
            <a:r>
              <a:rPr lang="en-US" sz="2800" b="1" dirty="0">
                <a:solidFill>
                  <a:srgbClr val="D6EAF8"/>
                </a:solidFill>
                <a:latin typeface="Calibri" pitchFamily="34" charset="0"/>
                <a:ea typeface="Calibri" pitchFamily="34" charset="-122"/>
                <a:cs typeface="Calibri" pitchFamily="34" charset="-120"/>
              </a:rPr>
              <a:t>PM10</a:t>
            </a:r>
            <a:endParaRPr lang="en-US" sz="2800" dirty="0"/>
          </a:p>
        </p:txBody>
      </p:sp>
      <p:sp>
        <p:nvSpPr>
          <p:cNvPr id="9" name="Text 6"/>
          <p:cNvSpPr/>
          <p:nvPr/>
        </p:nvSpPr>
        <p:spPr>
          <a:xfrm>
            <a:off x="5623560" y="1856232"/>
            <a:ext cx="3200400" cy="274320"/>
          </a:xfrm>
          <a:prstGeom prst="rect">
            <a:avLst/>
          </a:prstGeom>
          <a:noFill/>
          <a:ln/>
        </p:spPr>
        <p:txBody>
          <a:bodyPr wrap="square" lIns="0" tIns="0" rIns="0" bIns="0" rtlCol="0" anchor="ctr"/>
          <a:lstStyle/>
          <a:p>
            <a:pPr marL="0" indent="0" algn="ctr">
              <a:buNone/>
            </a:pPr>
            <a:r>
              <a:rPr lang="en-US" sz="900" dirty="0">
                <a:solidFill>
                  <a:srgbClr val="1C7293"/>
                </a:solidFill>
                <a:latin typeface="Calibri" pitchFamily="34" charset="0"/>
                <a:ea typeface="Calibri" pitchFamily="34" charset="-122"/>
                <a:cs typeface="Calibri" pitchFamily="34" charset="-120"/>
              </a:rPr>
              <a:t>r = 0.884  —  strongest positive correlation</a:t>
            </a:r>
            <a:endParaRPr lang="en-US" sz="900" dirty="0"/>
          </a:p>
        </p:txBody>
      </p:sp>
      <p:sp>
        <p:nvSpPr>
          <p:cNvPr id="10" name="Text 7"/>
          <p:cNvSpPr/>
          <p:nvPr/>
        </p:nvSpPr>
        <p:spPr>
          <a:xfrm>
            <a:off x="5623560" y="2423160"/>
            <a:ext cx="3200400" cy="5029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Both measure particulate matter — PM10 includes coarser particles that contain PM2.5, so they naturally rise and fall together.</a:t>
            </a:r>
            <a:endParaRPr lang="en-US" sz="950" dirty="0"/>
          </a:p>
        </p:txBody>
      </p:sp>
      <p:sp>
        <p:nvSpPr>
          <p:cNvPr id="11" name="Text 8"/>
          <p:cNvSpPr/>
          <p:nvPr/>
        </p:nvSpPr>
        <p:spPr>
          <a:xfrm>
            <a:off x="5623560" y="3017520"/>
            <a:ext cx="3200400" cy="32004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Q2: Does temperature affect pollution?</a:t>
            </a:r>
            <a:endParaRPr lang="en-US" sz="1200" dirty="0"/>
          </a:p>
        </p:txBody>
      </p:sp>
      <p:sp>
        <p:nvSpPr>
          <p:cNvPr id="12" name="Shape 9"/>
          <p:cNvSpPr/>
          <p:nvPr/>
        </p:nvSpPr>
        <p:spPr>
          <a:xfrm>
            <a:off x="5623560" y="3383280"/>
            <a:ext cx="3200400" cy="347472"/>
          </a:xfrm>
          <a:prstGeom prst="rect">
            <a:avLst/>
          </a:prstGeom>
          <a:solidFill>
            <a:srgbClr val="021B2E"/>
          </a:solidFill>
          <a:ln w="12700">
            <a:solidFill>
              <a:srgbClr val="1C7293"/>
            </a:solidFill>
            <a:prstDash val="solid"/>
          </a:ln>
        </p:spPr>
      </p:sp>
      <p:sp>
        <p:nvSpPr>
          <p:cNvPr id="13" name="Text 10"/>
          <p:cNvSpPr/>
          <p:nvPr/>
        </p:nvSpPr>
        <p:spPr>
          <a:xfrm>
            <a:off x="5623560" y="3383280"/>
            <a:ext cx="3200400" cy="347472"/>
          </a:xfrm>
          <a:prstGeom prst="rect">
            <a:avLst/>
          </a:prstGeom>
          <a:noFill/>
          <a:ln/>
        </p:spPr>
        <p:txBody>
          <a:bodyPr wrap="square" lIns="0" tIns="0" rIns="0" bIns="0" rtlCol="0" anchor="ctr"/>
          <a:lstStyle/>
          <a:p>
            <a:pPr marL="0" indent="0" algn="ctr">
              <a:buNone/>
            </a:pPr>
            <a:r>
              <a:rPr lang="en-US" sz="1100" b="1" dirty="0">
                <a:solidFill>
                  <a:srgbClr val="D6EAF8"/>
                </a:solidFill>
                <a:latin typeface="Calibri" pitchFamily="34" charset="0"/>
                <a:ea typeface="Calibri" pitchFamily="34" charset="-122"/>
                <a:cs typeface="Calibri" pitchFamily="34" charset="-120"/>
              </a:rPr>
              <a:t>Yes — r = −0.131 (negative)</a:t>
            </a:r>
            <a:endParaRPr lang="en-US" sz="1100" dirty="0"/>
          </a:p>
        </p:txBody>
      </p:sp>
      <p:sp>
        <p:nvSpPr>
          <p:cNvPr id="14" name="Text 11"/>
          <p:cNvSpPr/>
          <p:nvPr/>
        </p:nvSpPr>
        <p:spPr>
          <a:xfrm>
            <a:off x="5623560" y="3785616"/>
            <a:ext cx="3200400" cy="658368"/>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Cold weather = higher PM2.5. Likely driven by: (1) heating combustion in winter, (2) reduced atmospheric mixing in cold, stable air, trapping pollutants near the surface.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21B2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C7293"/>
          </a:solidFill>
          <a:ln w="12700">
            <a:solidFill>
              <a:srgbClr val="1C7293"/>
            </a:solidFill>
            <a:prstDash val="solid"/>
          </a:ln>
        </p:spPr>
      </p:sp>
      <p:sp>
        <p:nvSpPr>
          <p:cNvPr id="3" name="Text 1"/>
          <p:cNvSpPr/>
          <p:nvPr/>
        </p:nvSpPr>
        <p:spPr>
          <a:xfrm>
            <a:off x="457200" y="274320"/>
            <a:ext cx="8229600" cy="59436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Summary</a:t>
            </a:r>
            <a:endParaRPr lang="en-US" sz="3600" dirty="0"/>
          </a:p>
        </p:txBody>
      </p:sp>
      <p:sp>
        <p:nvSpPr>
          <p:cNvPr id="4" name="Text 2"/>
          <p:cNvSpPr/>
          <p:nvPr/>
        </p:nvSpPr>
        <p:spPr>
          <a:xfrm>
            <a:off x="457200" y="868680"/>
            <a:ext cx="8229600" cy="32004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Beijing Air Quality Data Analytics — Key Takeaways</a:t>
            </a:r>
            <a:endParaRPr lang="en-US" sz="1400" dirty="0"/>
          </a:p>
        </p:txBody>
      </p:sp>
      <p:sp>
        <p:nvSpPr>
          <p:cNvPr id="5" name="Shape 3"/>
          <p:cNvSpPr/>
          <p:nvPr/>
        </p:nvSpPr>
        <p:spPr>
          <a:xfrm>
            <a:off x="320040" y="1371600"/>
            <a:ext cx="4160520" cy="960120"/>
          </a:xfrm>
          <a:prstGeom prst="rect">
            <a:avLst/>
          </a:prstGeom>
          <a:solidFill>
            <a:srgbClr val="065A82">
              <a:alpha val="60000"/>
            </a:srgbClr>
          </a:solidFill>
          <a:ln w="12700">
            <a:solidFill>
              <a:srgbClr val="1C7293"/>
            </a:solidFill>
            <a:prstDash val="solid"/>
          </a:ln>
        </p:spPr>
      </p:sp>
      <p:sp>
        <p:nvSpPr>
          <p:cNvPr id="6" name="Shape 4"/>
          <p:cNvSpPr/>
          <p:nvPr/>
        </p:nvSpPr>
        <p:spPr>
          <a:xfrm>
            <a:off x="411480" y="1645920"/>
            <a:ext cx="347472" cy="347472"/>
          </a:xfrm>
          <a:prstGeom prst="ellipse">
            <a:avLst/>
          </a:prstGeom>
          <a:solidFill>
            <a:srgbClr val="1C7293"/>
          </a:solidFill>
          <a:ln w="12700">
            <a:solidFill>
              <a:srgbClr val="1C7293"/>
            </a:solidFill>
            <a:prstDash val="solid"/>
          </a:ln>
        </p:spPr>
      </p:sp>
      <p:sp>
        <p:nvSpPr>
          <p:cNvPr id="7" name="Text 5"/>
          <p:cNvSpPr/>
          <p:nvPr/>
        </p:nvSpPr>
        <p:spPr>
          <a:xfrm>
            <a:off x="411480" y="164592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850392" y="1463040"/>
            <a:ext cx="3520440" cy="292608"/>
          </a:xfrm>
          <a:prstGeom prst="rect">
            <a:avLst/>
          </a:prstGeom>
          <a:noFill/>
          <a:ln/>
        </p:spPr>
        <p:txBody>
          <a:bodyPr wrap="square" lIns="0" tIns="0" rIns="0" bIns="0" rtlCol="0" anchor="ctr"/>
          <a:lstStyle/>
          <a:p>
            <a:pPr marL="0" indent="0">
              <a:buNone/>
            </a:pPr>
            <a:r>
              <a:rPr lang="en-US" sz="1200" b="1" dirty="0">
                <a:solidFill>
                  <a:srgbClr val="D6EAF8"/>
                </a:solidFill>
                <a:latin typeface="Calibri" pitchFamily="34" charset="0"/>
                <a:ea typeface="Calibri" pitchFamily="34" charset="-122"/>
                <a:cs typeface="Calibri" pitchFamily="34" charset="-120"/>
              </a:rPr>
              <a:t>Dataset</a:t>
            </a:r>
            <a:endParaRPr lang="en-US" sz="1200" dirty="0"/>
          </a:p>
        </p:txBody>
      </p:sp>
      <p:sp>
        <p:nvSpPr>
          <p:cNvPr id="9" name="Text 7"/>
          <p:cNvSpPr/>
          <p:nvPr/>
        </p:nvSpPr>
        <p:spPr>
          <a:xfrm>
            <a:off x="850392" y="1773936"/>
            <a:ext cx="3520440" cy="47548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12 stations, 420K+ hourly records spanning 4 years — combined with glob + pd.concat</a:t>
            </a:r>
            <a:endParaRPr lang="en-US" sz="950" dirty="0"/>
          </a:p>
        </p:txBody>
      </p:sp>
      <p:sp>
        <p:nvSpPr>
          <p:cNvPr id="10" name="Shape 8"/>
          <p:cNvSpPr/>
          <p:nvPr/>
        </p:nvSpPr>
        <p:spPr>
          <a:xfrm>
            <a:off x="4754880" y="1371600"/>
            <a:ext cx="4160520" cy="960120"/>
          </a:xfrm>
          <a:prstGeom prst="rect">
            <a:avLst/>
          </a:prstGeom>
          <a:solidFill>
            <a:srgbClr val="065A82">
              <a:alpha val="60000"/>
            </a:srgbClr>
          </a:solidFill>
          <a:ln w="12700">
            <a:solidFill>
              <a:srgbClr val="1C7293"/>
            </a:solidFill>
            <a:prstDash val="solid"/>
          </a:ln>
        </p:spPr>
      </p:sp>
      <p:sp>
        <p:nvSpPr>
          <p:cNvPr id="11" name="Shape 9"/>
          <p:cNvSpPr/>
          <p:nvPr/>
        </p:nvSpPr>
        <p:spPr>
          <a:xfrm>
            <a:off x="4846320" y="1645920"/>
            <a:ext cx="347472" cy="347472"/>
          </a:xfrm>
          <a:prstGeom prst="ellipse">
            <a:avLst/>
          </a:prstGeom>
          <a:solidFill>
            <a:srgbClr val="1C7293"/>
          </a:solidFill>
          <a:ln w="12700">
            <a:solidFill>
              <a:srgbClr val="1C7293"/>
            </a:solidFill>
            <a:prstDash val="solid"/>
          </a:ln>
        </p:spPr>
      </p:sp>
      <p:sp>
        <p:nvSpPr>
          <p:cNvPr id="12" name="Text 10"/>
          <p:cNvSpPr/>
          <p:nvPr/>
        </p:nvSpPr>
        <p:spPr>
          <a:xfrm>
            <a:off x="4846320" y="164592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5285232" y="1463040"/>
            <a:ext cx="3520440" cy="292608"/>
          </a:xfrm>
          <a:prstGeom prst="rect">
            <a:avLst/>
          </a:prstGeom>
          <a:noFill/>
          <a:ln/>
        </p:spPr>
        <p:txBody>
          <a:bodyPr wrap="square" lIns="0" tIns="0" rIns="0" bIns="0" rtlCol="0" anchor="ctr"/>
          <a:lstStyle/>
          <a:p>
            <a:pPr marL="0" indent="0">
              <a:buNone/>
            </a:pPr>
            <a:r>
              <a:rPr lang="en-US" sz="1200" b="1" dirty="0">
                <a:solidFill>
                  <a:srgbClr val="D6EAF8"/>
                </a:solidFill>
                <a:latin typeface="Calibri" pitchFamily="34" charset="0"/>
                <a:ea typeface="Calibri" pitchFamily="34" charset="-122"/>
                <a:cs typeface="Calibri" pitchFamily="34" charset="-120"/>
              </a:rPr>
              <a:t>Cleaning</a:t>
            </a:r>
            <a:endParaRPr lang="en-US" sz="1200" dirty="0"/>
          </a:p>
        </p:txBody>
      </p:sp>
      <p:sp>
        <p:nvSpPr>
          <p:cNvPr id="14" name="Text 12"/>
          <p:cNvSpPr/>
          <p:nvPr/>
        </p:nvSpPr>
        <p:spPr>
          <a:xfrm>
            <a:off x="5285232" y="1773936"/>
            <a:ext cx="3520440" cy="47548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Linear interpolation per station for numerics; ffill/bfill for wind direction; no rows dropped</a:t>
            </a:r>
            <a:endParaRPr lang="en-US" sz="950" dirty="0"/>
          </a:p>
        </p:txBody>
      </p:sp>
      <p:sp>
        <p:nvSpPr>
          <p:cNvPr id="15" name="Shape 13"/>
          <p:cNvSpPr/>
          <p:nvPr/>
        </p:nvSpPr>
        <p:spPr>
          <a:xfrm>
            <a:off x="320040" y="2468880"/>
            <a:ext cx="4160520" cy="960120"/>
          </a:xfrm>
          <a:prstGeom prst="rect">
            <a:avLst/>
          </a:prstGeom>
          <a:solidFill>
            <a:srgbClr val="065A82">
              <a:alpha val="60000"/>
            </a:srgbClr>
          </a:solidFill>
          <a:ln w="12700">
            <a:solidFill>
              <a:srgbClr val="1C7293"/>
            </a:solidFill>
            <a:prstDash val="solid"/>
          </a:ln>
        </p:spPr>
      </p:sp>
      <p:sp>
        <p:nvSpPr>
          <p:cNvPr id="16" name="Shape 14"/>
          <p:cNvSpPr/>
          <p:nvPr/>
        </p:nvSpPr>
        <p:spPr>
          <a:xfrm>
            <a:off x="411480" y="2743200"/>
            <a:ext cx="347472" cy="347472"/>
          </a:xfrm>
          <a:prstGeom prst="ellipse">
            <a:avLst/>
          </a:prstGeom>
          <a:solidFill>
            <a:srgbClr val="1C7293"/>
          </a:solidFill>
          <a:ln w="12700">
            <a:solidFill>
              <a:srgbClr val="1C7293"/>
            </a:solidFill>
            <a:prstDash val="solid"/>
          </a:ln>
        </p:spPr>
      </p:sp>
      <p:sp>
        <p:nvSpPr>
          <p:cNvPr id="17" name="Text 15"/>
          <p:cNvSpPr/>
          <p:nvPr/>
        </p:nvSpPr>
        <p:spPr>
          <a:xfrm>
            <a:off x="411480" y="274320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850392" y="2560320"/>
            <a:ext cx="3520440" cy="292608"/>
          </a:xfrm>
          <a:prstGeom prst="rect">
            <a:avLst/>
          </a:prstGeom>
          <a:noFill/>
          <a:ln/>
        </p:spPr>
        <p:txBody>
          <a:bodyPr wrap="square" lIns="0" tIns="0" rIns="0" bIns="0" rtlCol="0" anchor="ctr"/>
          <a:lstStyle/>
          <a:p>
            <a:pPr marL="0" indent="0">
              <a:buNone/>
            </a:pPr>
            <a:r>
              <a:rPr lang="en-US" sz="1200" b="1" dirty="0">
                <a:solidFill>
                  <a:srgbClr val="D6EAF8"/>
                </a:solidFill>
                <a:latin typeface="Calibri" pitchFamily="34" charset="0"/>
                <a:ea typeface="Calibri" pitchFamily="34" charset="-122"/>
                <a:cs typeface="Calibri" pitchFamily="34" charset="-120"/>
              </a:rPr>
              <a:t>Statistics</a:t>
            </a:r>
            <a:endParaRPr lang="en-US" sz="1200" dirty="0"/>
          </a:p>
        </p:txBody>
      </p:sp>
      <p:sp>
        <p:nvSpPr>
          <p:cNvPr id="19" name="Text 17"/>
          <p:cNvSpPr/>
          <p:nvPr/>
        </p:nvSpPr>
        <p:spPr>
          <a:xfrm>
            <a:off x="850392" y="2871216"/>
            <a:ext cx="3520440" cy="47548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PM2.5 mean of 79.8 µg/m³ is ~8× the WHO guideline — severe chronic exposure</a:t>
            </a:r>
            <a:endParaRPr lang="en-US" sz="950" dirty="0"/>
          </a:p>
        </p:txBody>
      </p:sp>
      <p:sp>
        <p:nvSpPr>
          <p:cNvPr id="20" name="Shape 18"/>
          <p:cNvSpPr/>
          <p:nvPr/>
        </p:nvSpPr>
        <p:spPr>
          <a:xfrm>
            <a:off x="4754880" y="2468880"/>
            <a:ext cx="4160520" cy="960120"/>
          </a:xfrm>
          <a:prstGeom prst="rect">
            <a:avLst/>
          </a:prstGeom>
          <a:solidFill>
            <a:srgbClr val="065A82">
              <a:alpha val="60000"/>
            </a:srgbClr>
          </a:solidFill>
          <a:ln w="12700">
            <a:solidFill>
              <a:srgbClr val="1C7293"/>
            </a:solidFill>
            <a:prstDash val="solid"/>
          </a:ln>
        </p:spPr>
      </p:sp>
      <p:sp>
        <p:nvSpPr>
          <p:cNvPr id="21" name="Shape 19"/>
          <p:cNvSpPr/>
          <p:nvPr/>
        </p:nvSpPr>
        <p:spPr>
          <a:xfrm>
            <a:off x="4846320" y="2743200"/>
            <a:ext cx="347472" cy="347472"/>
          </a:xfrm>
          <a:prstGeom prst="ellipse">
            <a:avLst/>
          </a:prstGeom>
          <a:solidFill>
            <a:srgbClr val="1C7293"/>
          </a:solidFill>
          <a:ln w="12700">
            <a:solidFill>
              <a:srgbClr val="1C7293"/>
            </a:solidFill>
            <a:prstDash val="solid"/>
          </a:ln>
        </p:spPr>
      </p:sp>
      <p:sp>
        <p:nvSpPr>
          <p:cNvPr id="22" name="Text 20"/>
          <p:cNvSpPr/>
          <p:nvPr/>
        </p:nvSpPr>
        <p:spPr>
          <a:xfrm>
            <a:off x="4846320" y="274320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1"/>
          <p:cNvSpPr/>
          <p:nvPr/>
        </p:nvSpPr>
        <p:spPr>
          <a:xfrm>
            <a:off x="5285232" y="2560320"/>
            <a:ext cx="3520440" cy="292608"/>
          </a:xfrm>
          <a:prstGeom prst="rect">
            <a:avLst/>
          </a:prstGeom>
          <a:noFill/>
          <a:ln/>
        </p:spPr>
        <p:txBody>
          <a:bodyPr wrap="square" lIns="0" tIns="0" rIns="0" bIns="0" rtlCol="0" anchor="ctr"/>
          <a:lstStyle/>
          <a:p>
            <a:pPr marL="0" indent="0">
              <a:buNone/>
            </a:pPr>
            <a:r>
              <a:rPr lang="en-US" sz="1200" b="1" dirty="0">
                <a:solidFill>
                  <a:srgbClr val="D6EAF8"/>
                </a:solidFill>
                <a:latin typeface="Calibri" pitchFamily="34" charset="0"/>
                <a:ea typeface="Calibri" pitchFamily="34" charset="-122"/>
                <a:cs typeface="Calibri" pitchFamily="34" charset="-120"/>
              </a:rPr>
              <a:t>Filtering</a:t>
            </a:r>
            <a:endParaRPr lang="en-US" sz="1200" dirty="0"/>
          </a:p>
        </p:txBody>
      </p:sp>
      <p:sp>
        <p:nvSpPr>
          <p:cNvPr id="24" name="Text 22"/>
          <p:cNvSpPr/>
          <p:nvPr/>
        </p:nvSpPr>
        <p:spPr>
          <a:xfrm>
            <a:off x="5285232" y="2871216"/>
            <a:ext cx="3520440" cy="47548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Dongsi is most polluted; Dingling cleanest — clear urban vs. suburban gradient</a:t>
            </a:r>
            <a:endParaRPr lang="en-US" sz="950" dirty="0"/>
          </a:p>
        </p:txBody>
      </p:sp>
      <p:sp>
        <p:nvSpPr>
          <p:cNvPr id="25" name="Shape 23"/>
          <p:cNvSpPr/>
          <p:nvPr/>
        </p:nvSpPr>
        <p:spPr>
          <a:xfrm>
            <a:off x="320040" y="3566160"/>
            <a:ext cx="4160520" cy="960120"/>
          </a:xfrm>
          <a:prstGeom prst="rect">
            <a:avLst/>
          </a:prstGeom>
          <a:solidFill>
            <a:srgbClr val="065A82">
              <a:alpha val="60000"/>
            </a:srgbClr>
          </a:solidFill>
          <a:ln w="12700">
            <a:solidFill>
              <a:srgbClr val="1C7293"/>
            </a:solidFill>
            <a:prstDash val="solid"/>
          </a:ln>
        </p:spPr>
      </p:sp>
      <p:sp>
        <p:nvSpPr>
          <p:cNvPr id="26" name="Shape 24"/>
          <p:cNvSpPr/>
          <p:nvPr/>
        </p:nvSpPr>
        <p:spPr>
          <a:xfrm>
            <a:off x="411480" y="3840480"/>
            <a:ext cx="347472" cy="347472"/>
          </a:xfrm>
          <a:prstGeom prst="ellipse">
            <a:avLst/>
          </a:prstGeom>
          <a:solidFill>
            <a:srgbClr val="1C7293"/>
          </a:solidFill>
          <a:ln w="12700">
            <a:solidFill>
              <a:srgbClr val="1C7293"/>
            </a:solidFill>
            <a:prstDash val="solid"/>
          </a:ln>
        </p:spPr>
      </p:sp>
      <p:sp>
        <p:nvSpPr>
          <p:cNvPr id="27" name="Text 25"/>
          <p:cNvSpPr/>
          <p:nvPr/>
        </p:nvSpPr>
        <p:spPr>
          <a:xfrm>
            <a:off x="411480" y="384048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8" name="Text 26"/>
          <p:cNvSpPr/>
          <p:nvPr/>
        </p:nvSpPr>
        <p:spPr>
          <a:xfrm>
            <a:off x="850392" y="3657600"/>
            <a:ext cx="3520440" cy="292608"/>
          </a:xfrm>
          <a:prstGeom prst="rect">
            <a:avLst/>
          </a:prstGeom>
          <a:noFill/>
          <a:ln/>
        </p:spPr>
        <p:txBody>
          <a:bodyPr wrap="square" lIns="0" tIns="0" rIns="0" bIns="0" rtlCol="0" anchor="ctr"/>
          <a:lstStyle/>
          <a:p>
            <a:pPr marL="0" indent="0">
              <a:buNone/>
            </a:pPr>
            <a:r>
              <a:rPr lang="en-US" sz="1200" b="1" dirty="0">
                <a:solidFill>
                  <a:srgbClr val="D6EAF8"/>
                </a:solidFill>
                <a:latin typeface="Calibri" pitchFamily="34" charset="0"/>
                <a:ea typeface="Calibri" pitchFamily="34" charset="-122"/>
                <a:cs typeface="Calibri" pitchFamily="34" charset="-120"/>
              </a:rPr>
              <a:t>Visualisation</a:t>
            </a:r>
            <a:endParaRPr lang="en-US" sz="1200" dirty="0"/>
          </a:p>
        </p:txBody>
      </p:sp>
      <p:sp>
        <p:nvSpPr>
          <p:cNvPr id="29" name="Text 27"/>
          <p:cNvSpPr/>
          <p:nvPr/>
        </p:nvSpPr>
        <p:spPr>
          <a:xfrm>
            <a:off x="850392" y="3968496"/>
            <a:ext cx="3520440" cy="47548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Winter spikes visible in the line plot; right-skewed histogram; CO dominates boxplot</a:t>
            </a:r>
            <a:endParaRPr lang="en-US" sz="950" dirty="0"/>
          </a:p>
        </p:txBody>
      </p:sp>
      <p:sp>
        <p:nvSpPr>
          <p:cNvPr id="30" name="Shape 28"/>
          <p:cNvSpPr/>
          <p:nvPr/>
        </p:nvSpPr>
        <p:spPr>
          <a:xfrm>
            <a:off x="4754880" y="3566160"/>
            <a:ext cx="4160520" cy="960120"/>
          </a:xfrm>
          <a:prstGeom prst="rect">
            <a:avLst/>
          </a:prstGeom>
          <a:solidFill>
            <a:srgbClr val="065A82">
              <a:alpha val="60000"/>
            </a:srgbClr>
          </a:solidFill>
          <a:ln w="12700">
            <a:solidFill>
              <a:srgbClr val="1C7293"/>
            </a:solidFill>
            <a:prstDash val="solid"/>
          </a:ln>
        </p:spPr>
      </p:sp>
      <p:sp>
        <p:nvSpPr>
          <p:cNvPr id="31" name="Shape 29"/>
          <p:cNvSpPr/>
          <p:nvPr/>
        </p:nvSpPr>
        <p:spPr>
          <a:xfrm>
            <a:off x="4846320" y="3840480"/>
            <a:ext cx="347472" cy="347472"/>
          </a:xfrm>
          <a:prstGeom prst="ellipse">
            <a:avLst/>
          </a:prstGeom>
          <a:solidFill>
            <a:srgbClr val="1C7293"/>
          </a:solidFill>
          <a:ln w="12700">
            <a:solidFill>
              <a:srgbClr val="1C7293"/>
            </a:solidFill>
            <a:prstDash val="solid"/>
          </a:ln>
        </p:spPr>
      </p:sp>
      <p:sp>
        <p:nvSpPr>
          <p:cNvPr id="32" name="Text 30"/>
          <p:cNvSpPr/>
          <p:nvPr/>
        </p:nvSpPr>
        <p:spPr>
          <a:xfrm>
            <a:off x="4846320" y="384048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1"/>
          <p:cNvSpPr/>
          <p:nvPr/>
        </p:nvSpPr>
        <p:spPr>
          <a:xfrm>
            <a:off x="5285232" y="3657600"/>
            <a:ext cx="3520440" cy="292608"/>
          </a:xfrm>
          <a:prstGeom prst="rect">
            <a:avLst/>
          </a:prstGeom>
          <a:noFill/>
          <a:ln/>
        </p:spPr>
        <p:txBody>
          <a:bodyPr wrap="square" lIns="0" tIns="0" rIns="0" bIns="0" rtlCol="0" anchor="ctr"/>
          <a:lstStyle/>
          <a:p>
            <a:pPr marL="0" indent="0">
              <a:buNone/>
            </a:pPr>
            <a:r>
              <a:rPr lang="en-US" sz="1200" b="1" dirty="0">
                <a:solidFill>
                  <a:srgbClr val="D6EAF8"/>
                </a:solidFill>
                <a:latin typeface="Calibri" pitchFamily="34" charset="0"/>
                <a:ea typeface="Calibri" pitchFamily="34" charset="-122"/>
                <a:cs typeface="Calibri" pitchFamily="34" charset="-120"/>
              </a:rPr>
              <a:t>Correlation</a:t>
            </a:r>
            <a:endParaRPr lang="en-US" sz="1200" dirty="0"/>
          </a:p>
        </p:txBody>
      </p:sp>
      <p:sp>
        <p:nvSpPr>
          <p:cNvPr id="34" name="Text 32"/>
          <p:cNvSpPr/>
          <p:nvPr/>
        </p:nvSpPr>
        <p:spPr>
          <a:xfrm>
            <a:off x="5285232" y="3968496"/>
            <a:ext cx="3520440" cy="475488"/>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PM10 (r=0.884) most correlated; temperature negative — cold air traps pollution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1249</Words>
  <Application>Microsoft Office PowerPoint</Application>
  <PresentationFormat>On-screen Show (16:9)</PresentationFormat>
  <Paragraphs>209</Paragraphs>
  <Slides>11</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Beijing Air Quality Analysis</dc:title>
  <dc:subject>PptxGenJS Presentation</dc:subject>
  <dc:creator>PptxGenJS</dc:creator>
  <cp:lastModifiedBy>Oshan Mendis</cp:lastModifiedBy>
  <cp:revision>10</cp:revision>
  <dcterms:created xsi:type="dcterms:W3CDTF">2026-04-25T23:24:36Z</dcterms:created>
  <dcterms:modified xsi:type="dcterms:W3CDTF">2026-05-01T10:36:49Z</dcterms:modified>
</cp:coreProperties>
</file>