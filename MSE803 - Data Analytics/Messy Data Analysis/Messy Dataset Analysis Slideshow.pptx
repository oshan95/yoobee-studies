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0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Dataset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Analysis &amp; Visualisation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029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messy_dataset_Mukesh.csv  •  10 raw records  •  6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Load &amp; Inspect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88036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8803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Data Cleaning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8803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Statistics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3872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Outlier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53872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Visualisation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53872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Wrong With the Raw Data?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could analyse anything, the dataset had 7 different types of problems that needed fixing.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739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appeared twice — once missing Age, once missing Salary. Only one record should exist per person.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63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7739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had no ID, one row had no Name, Heidi had no Age or Salary, Grace had no Country, Charlie had no Join Date.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651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Number Columns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626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said 'thirty-eight' and Salary said 'sixty five thousand' — computers can't do maths with words.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651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651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9626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date was '2019-13-01' — there is no 13th month. This was unreadable and treated as missing.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840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Country Codes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5137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country (Australia) was written as both 'AU' and 'AUS'. This splits the data into two separate groups unnecessarily.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749040"/>
            <a:ext cx="4160520" cy="1078992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840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15137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were read as plain text because of the mixed content above — Age and Salary could not be used in calculations.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Problem Was Fixed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8046720" cy="512064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950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number fields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1704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"thirty-eight" → 38 and "sixty five thousand" → 65000, then converted to proper numbers.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508760"/>
            <a:ext cx="8046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&amp; mixed date formats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1764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multiple date patterns (DD/MM/YYYY, YYYY-MM-DD, YYYY-DD-MM). Others filled by carry-forward.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103120"/>
            <a:ext cx="8046720" cy="512064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139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 inconsistency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359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"AU" was renamed to "AUS" so Australia is treated as one unified group throughout the analysis.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2697480"/>
            <a:ext cx="8046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2734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IDs and Names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535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was assigned the next logical ID (6). The unnamed employee was labelled 'Unknown' to preserve the row.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291840"/>
            <a:ext cx="8046720" cy="512064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328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&amp; Salary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547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the median value — the middle number — which is more reliable than the average when data is limited.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886200"/>
            <a:ext cx="8046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Country &amp; 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41422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filled with the most common value (NZ — mode). Join Date carried forward from the previous row.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" y="4480560"/>
            <a:ext cx="8046720" cy="512064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Bob rows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" y="47365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Bob entries were merged into one — keeping the first complete row and discarding the second.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02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11887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7315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144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914400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914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914400"/>
            <a:ext cx="10972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914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914400"/>
            <a:ext cx="14630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14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261872"/>
            <a:ext cx="5029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618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1261872"/>
            <a:ext cx="11887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26187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65960" y="1261872"/>
            <a:ext cx="7315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1261872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1261872"/>
            <a:ext cx="10058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1261872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03320" y="1261872"/>
            <a:ext cx="109728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126187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1261872"/>
            <a:ext cx="14630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26187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 2020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1682496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68249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1682496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16824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65960" y="1682496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1682496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97480" y="1682496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168249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03320" y="1682496"/>
            <a:ext cx="1097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16824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682496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68249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Feb 2020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103120"/>
            <a:ext cx="5029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10312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40" y="2103120"/>
            <a:ext cx="11887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21031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965960" y="2103120"/>
            <a:ext cx="7315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65960" y="2103120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97480" y="2103120"/>
            <a:ext cx="10058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2103120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03320" y="2103120"/>
            <a:ext cx="109728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210312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$72,000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2103120"/>
            <a:ext cx="14630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10312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Feb 2020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523744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252374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" y="2523744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25237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65960" y="2523744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65960" y="2523744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697480" y="2523744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25237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03320" y="2523744"/>
            <a:ext cx="1097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03320" y="252374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$68,000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00600" y="2523744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252374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Nov 2019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2944368"/>
            <a:ext cx="5029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294436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77240" y="2944368"/>
            <a:ext cx="11887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294436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965960" y="2944368"/>
            <a:ext cx="7315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65960" y="2944368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97480" y="2944368"/>
            <a:ext cx="10058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97480" y="2944368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703320" y="2944368"/>
            <a:ext cx="109728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03320" y="294436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$59,000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800600" y="2944368"/>
            <a:ext cx="14630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29443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Jan 2019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364992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36499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77240" y="336499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7240" y="33649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965960" y="3364992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5960" y="3364992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697480" y="3364992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97480" y="3364992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703320" y="3364992"/>
            <a:ext cx="1097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03320" y="336499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$65,000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800600" y="336499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00600" y="336499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May 2018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3785616"/>
            <a:ext cx="5029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78561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77240" y="3785616"/>
            <a:ext cx="11887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77240" y="37856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965960" y="3785616"/>
            <a:ext cx="7315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65960" y="3785616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697480" y="3785616"/>
            <a:ext cx="10058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697480" y="378561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703320" y="3785616"/>
            <a:ext cx="109728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03320" y="378561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$64,000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800600" y="3785616"/>
            <a:ext cx="14630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00600" y="378561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Jul 2021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74320" y="4206240"/>
            <a:ext cx="502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420624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77240" y="420624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77240" y="42062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965960" y="4206240"/>
            <a:ext cx="731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965960" y="4206240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697480" y="420624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697480" y="4206240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703320" y="4206240"/>
            <a:ext cx="1097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03320" y="42062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$62,000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800600" y="420624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00600" y="420624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Jul 2021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74320" y="4626864"/>
            <a:ext cx="5029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46268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77240" y="4626864"/>
            <a:ext cx="11887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7240" y="462686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1965960" y="4626864"/>
            <a:ext cx="73152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65960" y="4626864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2697480" y="4626864"/>
            <a:ext cx="10058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697480" y="462686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3703320" y="4626864"/>
            <a:ext cx="109728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703320" y="462686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$58,000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4800600" y="4626864"/>
            <a:ext cx="1463040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800600" y="462686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 2019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126480" y="921434"/>
            <a:ext cx="2743200" cy="402336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6217920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Bob merged into a single row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217920" y="1673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 assigned ID 6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621792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Row 7 named 'Unknown'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6217920" y="23682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'thirty-eight' → 38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6217920" y="2715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Salary text → numbers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6217920" y="3063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 standardised to AUS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6217920" y="3410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Missing Age → median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6217920" y="37581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Missing Salary → median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217920" y="4105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Missing Country → mode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6217920" y="4453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Invalid date → ffill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Statistical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99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32588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1399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32588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399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317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399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(NZD)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8620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$62,556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25880" y="278892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25880" y="28620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278892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28620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3172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2788920"/>
            <a:ext cx="91440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28620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3756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484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Breakdown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34840" y="1325880"/>
            <a:ext cx="438912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26280" y="1389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262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employees  ·  67% of 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2468880"/>
            <a:ext cx="4389120" cy="1005840"/>
          </a:xfrm>
          <a:prstGeom prst="rect">
            <a:avLst/>
          </a:prstGeom>
          <a:solidFill>
            <a:srgbClr val="F0F7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26280" y="2532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52628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employees  ·  33% of team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34840" y="3611880"/>
            <a:ext cx="438912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3675888"/>
            <a:ext cx="4206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 is narrow: only $17,000 separates the lowest and highest earners, suggesting a relatively flat pay structure within this team.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Age (IQR Method)</a:t>
            </a:r>
            <a:endParaRPr lang="en-US" sz="2400" dirty="0"/>
          </a:p>
        </p:txBody>
      </p:sp>
      <p:pic>
        <p:nvPicPr>
          <p:cNvPr id="5" name="Image 0" descr="/home/claude/fig2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960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Outlier?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325880"/>
            <a:ext cx="251460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389888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outlier is a value that is unusually far from the rest of the data — much higher or much lower than typical.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IQR (Interquartile Range) method, which defines safe bounds as: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Q1 − 1.5 × IQR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= Q3 + 1.5 × IQR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0" y="30632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Result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3383280"/>
            <a:ext cx="2514600" cy="1508760"/>
          </a:xfrm>
          <a:prstGeom prst="rect">
            <a:avLst/>
          </a:prstGeom>
          <a:solidFill>
            <a:srgbClr val="021B2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3456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outliers found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3840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15 – 47 years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 fall comfortably within this range. The team is young (22) to mid-career (40) — a normal distribution for a working team.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Salary (IQR Method)</a:t>
            </a:r>
            <a:endParaRPr lang="en-US" sz="2400" dirty="0"/>
          </a:p>
        </p:txBody>
      </p:sp>
      <p:pic>
        <p:nvPicPr>
          <p:cNvPr id="5" name="Image 0" descr="/home/claude/fig3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960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Result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325880"/>
            <a:ext cx="2514600" cy="1417320"/>
          </a:xfrm>
          <a:prstGeom prst="rect">
            <a:avLst/>
          </a:prstGeom>
          <a:solidFill>
            <a:srgbClr val="021B2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399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outliers found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$50,000 – $74,000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salaries fall within these limits. Charlie's $72,000 is the highest but still within the acceptable range.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there WERE outliers?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200400"/>
            <a:ext cx="2514600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3264408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earned $200,000 while everyone else earns ~$60,000, that one value would dramatically skew the average upward — making the data misleading.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can result from data entry errors, exceptional cases, or genuine anomalies worth investigating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 &amp; Salary by Country</a:t>
            </a:r>
            <a:endParaRPr lang="en-US" sz="2400" dirty="0"/>
          </a:p>
        </p:txBody>
      </p:sp>
      <p:pic>
        <p:nvPicPr>
          <p:cNvPr id="5" name="Image 0" descr="/home/claude/fig4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3200400"/>
          </a:xfrm>
          <a:prstGeom prst="rect">
            <a:avLst/>
          </a:prstGeom>
        </p:spPr>
      </p:pic>
      <p:pic>
        <p:nvPicPr>
          <p:cNvPr id="6" name="Image 1" descr="/home/claude/fig5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297680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chart: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the team is based in New Zealand (6 people), 33% in Australia (3 people).  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chart: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boxplot shows how salaries are spread within each country. AUS employees appear to have a slightly higher median salary and wider range. The red line inside each box is the median salary.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532120" y="153232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Chart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32120" y="1994097"/>
            <a:ext cx="338328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2058105"/>
            <a:ext cx="3200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shows how strongly two columns move together, on a scale from −1 to +1.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= move perfectly together  |  −1 = move perfectly opposite  |  0 = no relationship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3228537"/>
            <a:ext cx="3383280" cy="685800"/>
          </a:xfrm>
          <a:prstGeom prst="rect">
            <a:avLst/>
          </a:prstGeom>
          <a:solidFill>
            <a:srgbClr val="021B2E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3228537"/>
            <a:ext cx="65836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3228537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3265113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Salary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350285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link. Older employees tend to earn more — likely reflecting experience and career progression.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0634DAF-2D5C-CBA4-7206-59ACF524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799657" cy="4071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Dataset — Key Takeaways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60520" cy="107899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2763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6642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7 types of issues — text-as-numbers, duplicates, inconsistent codes, invalid dates, and 8 missing values across 6 columns.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60520" cy="107899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2763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16642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 (15–47 range) and Salary ($50K–$74K range) had zero outliers. All values are within expected real-world bounds.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4160520" cy="107899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163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NZ-heavy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28529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9 employees (67%) are based in NZ, 3 in AUS (33%). AUS employees have a slightly higher median salary.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160520" cy="107899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8163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drives Salary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28529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correlation (r=0.63) is between Age and Salary. More experienced employees earn more — as expected.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160520" cy="107899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0507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Pay Band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" y="404164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range only $17,000 ($55K–$72K), suggesting consistent pay structure regardless of country or join year.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1137</Words>
  <Application>Microsoft Office PowerPoint</Application>
  <PresentationFormat>On-screen Show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Dataset Analysis</dc:title>
  <dc:subject>PptxGenJS Presentation</dc:subject>
  <dc:creator>PptxGenJS</dc:creator>
  <cp:lastModifiedBy>Oshan Mendis</cp:lastModifiedBy>
  <cp:revision>7</cp:revision>
  <dcterms:created xsi:type="dcterms:W3CDTF">2026-05-02T09:42:09Z</dcterms:created>
  <dcterms:modified xsi:type="dcterms:W3CDTF">2026-05-02T21:17:13Z</dcterms:modified>
</cp:coreProperties>
</file>