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013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Dataset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Cleaning, Analysis &amp; Visualisation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502920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042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messy_dataset_Mukesh.csv  •  10 raw records  •  6 columns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2606040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88036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1: Load &amp; Inspect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2880360"/>
            <a:ext cx="2606040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288036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2: Data Cleaning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2606040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3: Statistics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38728"/>
            <a:ext cx="2606040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387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4: Outlier Detection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3538728"/>
            <a:ext cx="2606040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5387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5: Visualisation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3538728"/>
            <a:ext cx="2606040" cy="475488"/>
          </a:xfrm>
          <a:prstGeom prst="roundRect">
            <a:avLst>
              <a:gd name="adj" fmla="val 15385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35387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6: Correlation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Wrong With the Raw Data?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9144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could analyse anything, the dataset had 7 different types of problems that needed fixing.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371600"/>
            <a:ext cx="4160520" cy="1078992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463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77393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appeared twice — once missing Age, once missing Salary. Only one record should exist per person.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371600"/>
            <a:ext cx="4160520" cy="1078992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1463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94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94960" y="177393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 had no ID, one row had no Name, Heidi had no Age or Salary, Grace had no Country, Charlie had no Join Date.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560320"/>
            <a:ext cx="4160520" cy="1078992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65176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26517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Number Columns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296265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said 'thirty-eight' and Salary said 'sixty five thousand' — computers can't do maths with words.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2560320"/>
            <a:ext cx="4160520" cy="1078992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265176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394960" y="26517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94960" y="296265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date was '2019-13-01' — there is no 13th month. This was unreadable and treated as missing.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49040"/>
            <a:ext cx="4160520" cy="1078992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11480" y="384048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🌍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Country Codes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5840" y="415137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country (Australia) was written as both 'AU' and 'AUS'. This splits the data into two separate groups unnecessarily.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749040"/>
            <a:ext cx="4160520" cy="1078992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384048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🔢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394960" y="3840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Data Types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94960" y="4151376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columns were read as plain text because of the mixed content above — Age and Salary could not be used in calculations.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Problem Was Fixed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05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914400"/>
            <a:ext cx="8046720" cy="512064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9509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in number fields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11704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"thirty-eight" → 38 and "sixty five thousand" → 65000, then converted to proper numbers.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600200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1508760"/>
            <a:ext cx="8046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15453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&amp; mixed date formats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" y="17647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Tried multiple date patterns (DD/MM/YYYY, YYYY-MM-DD, YYYY-DD-MM). Others filled by carry-forward.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194560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2194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2103120"/>
            <a:ext cx="8046720" cy="512064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21396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code inconsistency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" y="235915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"AU" was renamed to "AUS" so Australia is treated as one unified group throughout the analysis.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788920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2697480"/>
            <a:ext cx="8046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2734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IDs and Names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41248" y="295351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 was assigned the next logical ID (6). The unnamed employee was labelled 'Unknown' to preserve the row.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3383280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383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3291840"/>
            <a:ext cx="8046720" cy="512064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3284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Age &amp; Salary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1248" y="354787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with the median value — the middle number — which is more reliable than the average when data is limited.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977640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3886200"/>
            <a:ext cx="8046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" y="39227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Country &amp; Date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41248" y="414223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filled with the most common value (NZ — mode). Join Date carried forward from the previous row.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4572000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572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77240" y="4480560"/>
            <a:ext cx="8046720" cy="512064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1248" y="45171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Bob rows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1248" y="47365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Bob entries were merged into one — keeping the first complete row and discarding the second.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Cleaned Dataset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50292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914400"/>
            <a:ext cx="118872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914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65960" y="914400"/>
            <a:ext cx="73152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91440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97480" y="914400"/>
            <a:ext cx="100584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9144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03320" y="914400"/>
            <a:ext cx="109728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3320" y="91440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00600" y="914400"/>
            <a:ext cx="146304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9144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Date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261872"/>
            <a:ext cx="5029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26187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1261872"/>
            <a:ext cx="11887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126187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65960" y="1261872"/>
            <a:ext cx="7315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65960" y="1261872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697480" y="1261872"/>
            <a:ext cx="10058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97480" y="1261872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03320" y="1261872"/>
            <a:ext cx="109728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03320" y="126187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$55,000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00600" y="1261872"/>
            <a:ext cx="14630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1261872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Jan 2020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168249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168249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77240" y="1682496"/>
            <a:ext cx="1188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1682496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965960" y="1682496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65960" y="1682496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97480" y="1682496"/>
            <a:ext cx="10058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97480" y="1682496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03320" y="1682496"/>
            <a:ext cx="1097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03320" y="16824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00600" y="1682496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00600" y="1682496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Feb 2020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2103120"/>
            <a:ext cx="5029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10312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7240" y="2103120"/>
            <a:ext cx="11887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2103120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Charlie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965960" y="2103120"/>
            <a:ext cx="7315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65960" y="2103120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697480" y="2103120"/>
            <a:ext cx="10058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97480" y="2103120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703320" y="2103120"/>
            <a:ext cx="109728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03320" y="21031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$72,000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00600" y="2103120"/>
            <a:ext cx="14630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103120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Feb 2020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74320" y="2523744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4320" y="252374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7240" y="2523744"/>
            <a:ext cx="1188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7240" y="2523744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965960" y="2523744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65960" y="2523744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697480" y="2523744"/>
            <a:ext cx="10058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697480" y="2523744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03320" y="2523744"/>
            <a:ext cx="1097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703320" y="252374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$68,000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800600" y="2523744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523744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Nov 2019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74320" y="2944368"/>
            <a:ext cx="5029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74320" y="294436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77240" y="2944368"/>
            <a:ext cx="11887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7240" y="2944368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965960" y="2944368"/>
            <a:ext cx="7315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0" y="2944368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697480" y="2944368"/>
            <a:ext cx="10058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697480" y="2944368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3703320" y="2944368"/>
            <a:ext cx="109728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03320" y="294436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$59,000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800600" y="2944368"/>
            <a:ext cx="14630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2944368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Jan 2019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74320" y="336499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74320" y="336499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77240" y="3364992"/>
            <a:ext cx="1188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7240" y="3364992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1965960" y="3364992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965960" y="3364992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2697480" y="3364992"/>
            <a:ext cx="10058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697480" y="3364992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703320" y="3364992"/>
            <a:ext cx="1097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703320" y="336499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$65,000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800600" y="3364992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600" y="3364992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May 2018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74320" y="3785616"/>
            <a:ext cx="5029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74320" y="378561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77240" y="3785616"/>
            <a:ext cx="11887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77240" y="3785616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965960" y="3785616"/>
            <a:ext cx="7315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65960" y="3785616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2697480" y="3785616"/>
            <a:ext cx="10058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697480" y="3785616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3703320" y="3785616"/>
            <a:ext cx="109728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703320" y="378561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$64,000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800600" y="3785616"/>
            <a:ext cx="14630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800600" y="3785616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Jul 2021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274320" y="420624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74320" y="420624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77240" y="4206240"/>
            <a:ext cx="1188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77240" y="4206240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Heidi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965960" y="4206240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965960" y="4206240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697480" y="4206240"/>
            <a:ext cx="10058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697480" y="4206240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703320" y="4206240"/>
            <a:ext cx="1097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703320" y="42062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$62,000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800600" y="4206240"/>
            <a:ext cx="14630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800600" y="4206240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Jul 2021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274320" y="4626864"/>
            <a:ext cx="5029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74320" y="462686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777240" y="4626864"/>
            <a:ext cx="11887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77240" y="4626864"/>
            <a:ext cx="1188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Ivan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1965960" y="4626864"/>
            <a:ext cx="73152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65960" y="4626864"/>
            <a:ext cx="731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2697480" y="4626864"/>
            <a:ext cx="10058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697480" y="4626864"/>
            <a:ext cx="1005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3703320" y="4626864"/>
            <a:ext cx="109728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703320" y="4626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$58,000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4800600" y="4626864"/>
            <a:ext cx="1463040" cy="393192"/>
          </a:xfrm>
          <a:prstGeom prst="rect">
            <a:avLst/>
          </a:prstGeom>
          <a:solidFill>
            <a:srgbClr val="D6EA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800600" y="4626864"/>
            <a:ext cx="1463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Mar 2019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6126480" y="921434"/>
            <a:ext cx="2743200" cy="402336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6" name="Text 124"/>
          <p:cNvSpPr/>
          <p:nvPr/>
        </p:nvSpPr>
        <p:spPr>
          <a:xfrm>
            <a:off x="6217920" y="960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changed?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6217920" y="13258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Bob merged into a single row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6217920" y="16733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Eve assigned ID 6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6217920" y="202082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Row 7 named 'Unknown'</a:t>
            </a:r>
            <a:endParaRPr lang="en-US" sz="950" dirty="0"/>
          </a:p>
        </p:txBody>
      </p:sp>
      <p:sp>
        <p:nvSpPr>
          <p:cNvPr id="130" name="Text 128"/>
          <p:cNvSpPr/>
          <p:nvPr/>
        </p:nvSpPr>
        <p:spPr>
          <a:xfrm>
            <a:off x="6217920" y="236829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'thirty-eight' → 38</a:t>
            </a:r>
            <a:endParaRPr lang="en-US" sz="950" dirty="0"/>
          </a:p>
        </p:txBody>
      </p:sp>
      <p:sp>
        <p:nvSpPr>
          <p:cNvPr id="131" name="Text 129"/>
          <p:cNvSpPr/>
          <p:nvPr/>
        </p:nvSpPr>
        <p:spPr>
          <a:xfrm>
            <a:off x="6217920" y="27157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Salary text → numbers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6217920" y="30632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 standardised to AUS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6217920" y="341071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Missing Age → median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6217920" y="375818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Missing Salary → median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6217920" y="41056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Missing Country → mode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6217920" y="44531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Invalid date → ffill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Statistical 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(years)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3990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30.5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004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32588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25880" y="13990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2588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132588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31720" y="13990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33172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Youngest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7560" y="132588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37560" y="13990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3756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423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(NZD)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278892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20040" y="2862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$62,556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004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325880" y="278892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325880" y="2862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$62,000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331720" y="278892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2862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$55,000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33172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2788920"/>
            <a:ext cx="914400" cy="9601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37560" y="2862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$72,000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33756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34840" y="9601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Breakdown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434840" y="1325880"/>
            <a:ext cx="4389120" cy="1005840"/>
          </a:xfrm>
          <a:prstGeom prst="rect">
            <a:avLst/>
          </a:prstGeom>
          <a:solidFill>
            <a:srgbClr val="021B2E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526280" y="13898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NZ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45262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employees  ·  67% of team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434840" y="2468880"/>
            <a:ext cx="4389120" cy="1005840"/>
          </a:xfrm>
          <a:prstGeom prst="rect">
            <a:avLst/>
          </a:prstGeom>
          <a:solidFill>
            <a:srgbClr val="F0F7FF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26280" y="25328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4526280" y="3017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employees  ·  33% of team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434840" y="3611880"/>
            <a:ext cx="4389120" cy="128016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0" y="3675888"/>
            <a:ext cx="4206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range is narrow: only $17,000 separates the lowest and highest earners, suggesting a relatively flat pay structure within this team.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Detection — Age (IQR Method)</a:t>
            </a:r>
            <a:endParaRPr lang="en-US" sz="2400" dirty="0"/>
          </a:p>
        </p:txBody>
      </p:sp>
      <p:pic>
        <p:nvPicPr>
          <p:cNvPr id="5" name="Image 0" descr="/home/claude/fig2_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14400"/>
            <a:ext cx="594360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960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Outlier?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0" y="1325880"/>
            <a:ext cx="2514600" cy="164592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1389888"/>
            <a:ext cx="2331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outlier is a value that is unusually far from the rest of the data — much higher or much lower than typical.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the IQR (Interquartile Range) method, which defines safe bounds as: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= Q1 − 1.5 × IQR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= Q3 + 1.5 × IQR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400800" y="306324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Result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0" y="3383280"/>
            <a:ext cx="2514600" cy="1508760"/>
          </a:xfrm>
          <a:prstGeom prst="rect">
            <a:avLst/>
          </a:prstGeom>
          <a:solidFill>
            <a:srgbClr val="021B2E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34564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 outliers found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Bounds: 15 – 47 years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employees fall comfortably within this range. The team is young (22) to mid-career (40) — a normal distribution for a working team.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Detection — Salary (IQR Method)</a:t>
            </a:r>
            <a:endParaRPr lang="en-US" sz="2400" dirty="0"/>
          </a:p>
        </p:txBody>
      </p:sp>
      <p:pic>
        <p:nvPicPr>
          <p:cNvPr id="5" name="Image 0" descr="/home/claude/fig3_sal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14400"/>
            <a:ext cx="594360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960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Result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0" y="1325880"/>
            <a:ext cx="2514600" cy="1417320"/>
          </a:xfrm>
          <a:prstGeom prst="rect">
            <a:avLst/>
          </a:prstGeom>
          <a:solidFill>
            <a:srgbClr val="021B2E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92240" y="13990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 outliers found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92240" y="1783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Bounds: $50,000 – $74,000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salaries fall within these limits. Charlie's $72,000 is the highest but still within the acceptable range.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0" y="28346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there WERE outliers?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0" y="3200400"/>
            <a:ext cx="2514600" cy="169164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92240" y="3264408"/>
            <a:ext cx="23317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earned $200,000 while everyone else earns ~$60,000, that one value would dramatically skew the average upward — making the data misleading.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can result from data entry errors, exceptional cases, or genuine anomalies worth investigating separately.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Composition &amp; Salary by Country</a:t>
            </a:r>
            <a:endParaRPr lang="en-US" sz="2400" dirty="0"/>
          </a:p>
        </p:txBody>
      </p:sp>
      <p:pic>
        <p:nvPicPr>
          <p:cNvPr id="5" name="Image 0" descr="/home/claude/fig4_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14400"/>
            <a:ext cx="4114800" cy="3200400"/>
          </a:xfrm>
          <a:prstGeom prst="rect">
            <a:avLst/>
          </a:prstGeom>
        </p:spPr>
      </p:pic>
      <p:pic>
        <p:nvPicPr>
          <p:cNvPr id="6" name="Image 1" descr="/home/claude/fig5_box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914400"/>
            <a:ext cx="4297680" cy="3200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74320" y="4206240"/>
            <a:ext cx="8595360" cy="749808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65760" y="4224528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chart: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of the team is based in New Zealand (6 people), 33% in Australia (3 people).   </a:t>
            </a: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chart: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boxplot shows how salaries are spread within each country. AUS employees appear to have a slightly higher median salary and wider range. The red line inside each box is the median salary.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841248"/>
          </a:xfrm>
          <a:prstGeom prst="rect">
            <a:avLst/>
          </a:prstGeom>
          <a:solidFill>
            <a:srgbClr val="D6EAF8"/>
          </a:solidFill>
          <a:ln w="12700">
            <a:solidFill>
              <a:srgbClr val="D6EA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595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 Heatmap</a:t>
            </a:r>
            <a:endParaRPr lang="en-US" sz="2400" dirty="0"/>
          </a:p>
        </p:txBody>
      </p:sp>
      <p:pic>
        <p:nvPicPr>
          <p:cNvPr id="5" name="Image 0" descr="/home/claude/fig6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14400"/>
            <a:ext cx="5029200" cy="3977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32120" y="960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Chart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532120" y="1325880"/>
            <a:ext cx="3383280" cy="114300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623560" y="1389888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number shows how strongly two columns move together, on a scale from −1 to +1.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= move perfectly together  |  −1 = move perfectly opposite  |  0 = no relationship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32120" y="2560320"/>
            <a:ext cx="3383280" cy="594360"/>
          </a:xfrm>
          <a:prstGeom prst="rect">
            <a:avLst/>
          </a:prstGeom>
          <a:solidFill>
            <a:srgbClr val="021B2E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32120" y="2560320"/>
            <a:ext cx="658368" cy="594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32120" y="2560320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263640" y="259689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↔ Salary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263640" y="2834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positive link. Older employees tend to earn more — likely reflecting experience and career progression.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32120" y="3227832"/>
            <a:ext cx="3383280" cy="594360"/>
          </a:xfrm>
          <a:prstGeom prst="rect">
            <a:avLst/>
          </a:prstGeom>
          <a:solidFill>
            <a:srgbClr val="021B2E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32120" y="3227832"/>
            <a:ext cx="658368" cy="594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32120" y="3227832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−0.64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263640" y="32644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↔ Join Year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263640" y="35021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employees joined earlier (lower year number). This is natural — they've been in the workforce longer.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532120" y="3895344"/>
            <a:ext cx="338328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532120" y="3895344"/>
            <a:ext cx="658368" cy="594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532120" y="3895344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263640" y="3931920"/>
            <a:ext cx="25603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↔ Salary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26364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negative link. AUS employees earn slightly more on average than NZ employees, but the relationship is not strong.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532120" y="4562856"/>
            <a:ext cx="3383280" cy="594360"/>
          </a:xfrm>
          <a:prstGeom prst="rect">
            <a:avLst/>
          </a:prstGeom>
          <a:solidFill>
            <a:srgbClr val="F0F7FF"/>
          </a:solidFill>
          <a:ln w="12700">
            <a:solidFill>
              <a:srgbClr val="D6EAF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532120" y="4562856"/>
            <a:ext cx="658368" cy="594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532120" y="4562856"/>
            <a:ext cx="658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518543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↔ Join Year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263640" y="4782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zero. When someone joined has virtually no bearing on what they earn — pay is driven by other factors.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Dataset — Key Takeaways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4160520" cy="1078992"/>
          </a:xfrm>
          <a:prstGeom prst="rect">
            <a:avLst/>
          </a:prstGeom>
          <a:solidFill>
            <a:srgbClr val="065A82">
              <a:alpha val="6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627632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627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0392" y="1353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0392" y="166420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7 types of issues — text-as-numbers, duplicates, inconsistent codes, invalid dates, and 8 missing values across 6 columns.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4160520" cy="1078992"/>
          </a:xfrm>
          <a:prstGeom prst="rect">
            <a:avLst/>
          </a:prstGeom>
          <a:solidFill>
            <a:srgbClr val="065A82">
              <a:alpha val="6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627632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627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85232" y="1353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Outliers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85232" y="166420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 (15–47 range) and Salary ($50K–$74K range) had zero outliers. All values are within expected real-world bounds.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2468880"/>
            <a:ext cx="4160520" cy="1078992"/>
          </a:xfrm>
          <a:prstGeom prst="rect">
            <a:avLst/>
          </a:prstGeom>
          <a:solidFill>
            <a:srgbClr val="065A82">
              <a:alpha val="6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816352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816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" y="25420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is NZ-heavy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0392" y="285292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9 employees (67%) are based in NZ, 3 in AUS (33%). AUS employees have a slightly higher median salary.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0" y="2468880"/>
            <a:ext cx="4160520" cy="1078992"/>
          </a:xfrm>
          <a:prstGeom prst="rect">
            <a:avLst/>
          </a:prstGeom>
          <a:solidFill>
            <a:srgbClr val="065A82">
              <a:alpha val="6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816352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816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85232" y="25420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drives Salary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85232" y="285292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correlation (r=0.63) is between Age and Salary. More experienced employees earn more — as expected.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3657600"/>
            <a:ext cx="4160520" cy="1078992"/>
          </a:xfrm>
          <a:prstGeom prst="rect">
            <a:avLst/>
          </a:prstGeom>
          <a:solidFill>
            <a:srgbClr val="065A82">
              <a:alpha val="6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05072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005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0392" y="3730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Pay Band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0392" y="404164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Salaries range only $17,000 ($55K–$72K), suggesting consistent pay structure regardless of country or join year.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3657600"/>
            <a:ext cx="4160520" cy="1078992"/>
          </a:xfrm>
          <a:prstGeom prst="rect">
            <a:avLst/>
          </a:prstGeom>
          <a:solidFill>
            <a:srgbClr val="065A82">
              <a:alpha val="6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4005072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4005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85232" y="3730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Year ≠ Salary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85232" y="404164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joined has no influence on their pay (r=−0.03). Compensation is based on other factors like age/experience.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1249</Words>
  <Application>Microsoft Office PowerPoint</Application>
  <PresentationFormat>On-screen Show (16:9)</PresentationFormat>
  <Paragraphs>218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Dataset Analysis</dc:title>
  <dc:subject>PptxGenJS Presentation</dc:subject>
  <dc:creator>PptxGenJS</dc:creator>
  <cp:lastModifiedBy>Oshan Mendis</cp:lastModifiedBy>
  <cp:revision>4</cp:revision>
  <dcterms:created xsi:type="dcterms:W3CDTF">2026-05-02T09:42:09Z</dcterms:created>
  <dcterms:modified xsi:type="dcterms:W3CDTF">2026-05-02T10:57:31Z</dcterms:modified>
</cp:coreProperties>
</file>